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F1E7F2-BD25-4246-848C-6C0A87D38408}">
  <a:tblStyle styleId="{50F1E7F2-BD25-4246-848C-6C0A87D3840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5.xml"/><Relationship Id="rId22" Type="http://schemas.openxmlformats.org/officeDocument/2006/relationships/font" Target="fonts/Lato-bold.fntdata"/><Relationship Id="rId10" Type="http://schemas.openxmlformats.org/officeDocument/2006/relationships/slide" Target="slides/slide4.xml"/><Relationship Id="rId21" Type="http://schemas.openxmlformats.org/officeDocument/2006/relationships/font" Target="fonts/Lato-regular.fntdata"/><Relationship Id="rId13" Type="http://schemas.openxmlformats.org/officeDocument/2006/relationships/slide" Target="slides/slide7.xml"/><Relationship Id="rId24" Type="http://schemas.openxmlformats.org/officeDocument/2006/relationships/font" Target="fonts/Lato-boldItalic.fntdata"/><Relationship Id="rId12" Type="http://schemas.openxmlformats.org/officeDocument/2006/relationships/slide" Target="slides/slide6.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aleway-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aleway-italic.fntdata"/><Relationship Id="rId6" Type="http://schemas.openxmlformats.org/officeDocument/2006/relationships/notesMaster" Target="notesMasters/notesMaster1.xml"/><Relationship Id="rId18" Type="http://schemas.openxmlformats.org/officeDocument/2006/relationships/font" Target="fonts/Raleway-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26be1c8ea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26be1c8ea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26be1c8ea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26be1c8ea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2000" u="sng">
                <a:solidFill>
                  <a:srgbClr val="595959"/>
                </a:solidFill>
                <a:latin typeface="Lato"/>
                <a:ea typeface="Lato"/>
                <a:cs typeface="Lato"/>
                <a:sym typeface="Lato"/>
              </a:rPr>
              <a:t>What is our project chosen and what was it about?</a:t>
            </a:r>
            <a:endParaRPr sz="2000" u="sng">
              <a:solidFill>
                <a:srgbClr val="595959"/>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en-GB" sz="2000">
                <a:solidFill>
                  <a:srgbClr val="595959"/>
                </a:solidFill>
                <a:latin typeface="Lato"/>
                <a:ea typeface="Lato"/>
                <a:cs typeface="Lato"/>
                <a:sym typeface="Lato"/>
              </a:rPr>
              <a:t>HuddleUp is a social media app built around micro communities (“huddles”) instead of public feeds. A huddle is a small private group of people who share a goal or interest. Users join huddles for fitness, study, hobbies, mental health support, projects, and more, creating a close community where you are able to connect with likeminded people naturally based on a shared interest/topic, creating meaningful connections</a:t>
            </a:r>
            <a:endParaRPr sz="2000">
              <a:solidFill>
                <a:srgbClr val="595959"/>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en-GB" sz="2000" u="sng">
                <a:solidFill>
                  <a:srgbClr val="595959"/>
                </a:solidFill>
                <a:latin typeface="Lato"/>
                <a:ea typeface="Lato"/>
                <a:cs typeface="Lato"/>
                <a:sym typeface="Lato"/>
              </a:rPr>
              <a:t>Why did we choose this idea for our project?</a:t>
            </a:r>
            <a:endParaRPr sz="2000" u="sng">
              <a:solidFill>
                <a:srgbClr val="595959"/>
              </a:solidFill>
              <a:latin typeface="Lato"/>
              <a:ea typeface="Lato"/>
              <a:cs typeface="Lato"/>
              <a:sym typeface="Lato"/>
            </a:endParaRPr>
          </a:p>
          <a:p>
            <a:pPr indent="0" lvl="0" marL="0" rtl="0" algn="l">
              <a:lnSpc>
                <a:spcPct val="115000"/>
              </a:lnSpc>
              <a:spcBef>
                <a:spcPts val="1200"/>
              </a:spcBef>
              <a:spcAft>
                <a:spcPts val="1200"/>
              </a:spcAft>
              <a:buClr>
                <a:schemeClr val="dk1"/>
              </a:buClr>
              <a:buSzPts val="1100"/>
              <a:buFont typeface="Arial"/>
              <a:buNone/>
            </a:pPr>
            <a:r>
              <a:rPr lang="en-GB" sz="2000">
                <a:solidFill>
                  <a:srgbClr val="595959"/>
                </a:solidFill>
                <a:latin typeface="Lato"/>
                <a:ea typeface="Lato"/>
                <a:cs typeface="Lato"/>
                <a:sym typeface="Lato"/>
              </a:rPr>
              <a:t>People have friends and followers, but still feel lonely.  Big social platforms are noisy, algorithm-driven, and often toxic. So, it is hard to find a small, trusted group online where everyone is heard, creating a close community.</a:t>
            </a:r>
            <a:endParaRPr sz="1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26be1c8ea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26be1c8ea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000" u="sng">
                <a:solidFill>
                  <a:srgbClr val="595959"/>
                </a:solidFill>
                <a:latin typeface="Lato"/>
                <a:ea typeface="Lato"/>
                <a:cs typeface="Lato"/>
                <a:sym typeface="Lato"/>
              </a:rPr>
              <a:t>What is a USP</a:t>
            </a:r>
            <a:endParaRPr sz="2000" u="sng">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GB" sz="2000">
                <a:solidFill>
                  <a:srgbClr val="595959"/>
                </a:solidFill>
                <a:latin typeface="Lato"/>
                <a:ea typeface="Lato"/>
                <a:cs typeface="Lato"/>
                <a:sym typeface="Lato"/>
              </a:rPr>
              <a:t>USP stands for unique selling proposition. It is a concise statement that identifies what makes a product, service, business or brand stand out from competitors and why customers should choose it over others in the market.</a:t>
            </a:r>
            <a:endParaRPr sz="20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20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GB" sz="2000" u="sng">
                <a:solidFill>
                  <a:srgbClr val="595959"/>
                </a:solidFill>
                <a:latin typeface="Lato"/>
                <a:ea typeface="Lato"/>
                <a:cs typeface="Lato"/>
                <a:sym typeface="Lato"/>
              </a:rPr>
              <a:t>Reasons why this app is unique</a:t>
            </a:r>
            <a:endParaRPr sz="2000" u="sng">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GB" sz="2000">
                <a:solidFill>
                  <a:srgbClr val="595959"/>
                </a:solidFill>
                <a:latin typeface="Lato"/>
                <a:ea typeface="Lato"/>
                <a:cs typeface="Lato"/>
                <a:sym typeface="Lato"/>
              </a:rPr>
              <a:t>Huddle‑up stands out because it replaces large, noisy social spaces with small, focused micro‑communities. Instead of an endless feed, users join a few meaningful huddles that encourage real interaction. The app also offers optional monthly group rotations to help people connect with new members naturally, and it uses gamified goal‑tracking to keep collaboration fun and engaging. </a:t>
            </a:r>
            <a:r>
              <a:rPr lang="en-GB" sz="2000">
                <a:solidFill>
                  <a:srgbClr val="595959"/>
                </a:solidFill>
                <a:latin typeface="Lato"/>
                <a:ea typeface="Lato"/>
                <a:cs typeface="Lato"/>
                <a:sym typeface="Lato"/>
              </a:rPr>
              <a:t>Which</a:t>
            </a:r>
            <a:r>
              <a:rPr lang="en-GB" sz="2000">
                <a:solidFill>
                  <a:srgbClr val="595959"/>
                </a:solidFill>
                <a:latin typeface="Lato"/>
                <a:ea typeface="Lato"/>
                <a:cs typeface="Lato"/>
                <a:sym typeface="Lato"/>
              </a:rPr>
              <a:t> gives it a more </a:t>
            </a:r>
            <a:r>
              <a:rPr lang="en-GB" sz="2000">
                <a:solidFill>
                  <a:srgbClr val="595959"/>
                </a:solidFill>
                <a:latin typeface="Lato"/>
                <a:ea typeface="Lato"/>
                <a:cs typeface="Lato"/>
                <a:sym typeface="Lato"/>
              </a:rPr>
              <a:t>meaningful interaction/discussion.  </a:t>
            </a:r>
            <a:endParaRPr sz="20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sz="2000">
              <a:solidFill>
                <a:srgbClr val="595959"/>
              </a:solidFill>
              <a:latin typeface="Lato"/>
              <a:ea typeface="Lato"/>
              <a:cs typeface="Lato"/>
              <a:sym typeface="La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1c19530e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1c19530e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26be1c8e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26be1c8e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28dc95b8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28dc95b8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So, for the app prototype, first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screen first displays</a:t>
            </a:r>
            <a:endParaRPr>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lang="en-GB" sz="800">
                <a:solidFill>
                  <a:schemeClr val="dk1"/>
                </a:solidFill>
              </a:rPr>
              <a:t>1. </a:t>
            </a:r>
            <a:r>
              <a:rPr b="1" lang="en-GB" sz="800">
                <a:solidFill>
                  <a:schemeClr val="dk1"/>
                </a:solidFill>
              </a:rPr>
              <a:t>Welcome Screen</a:t>
            </a:r>
            <a:endParaRPr b="1" sz="800">
              <a:solidFill>
                <a:schemeClr val="dk1"/>
              </a:solidFill>
            </a:endParaRPr>
          </a:p>
          <a:p>
            <a:pPr indent="-279400" lvl="0" marL="457200" rtl="0" algn="l">
              <a:lnSpc>
                <a:spcPct val="95000"/>
              </a:lnSpc>
              <a:spcBef>
                <a:spcPts val="1200"/>
              </a:spcBef>
              <a:spcAft>
                <a:spcPts val="0"/>
              </a:spcAft>
              <a:buClr>
                <a:schemeClr val="dk1"/>
              </a:buClr>
              <a:buSzPts val="800"/>
              <a:buChar char="●"/>
            </a:pPr>
            <a:r>
              <a:rPr b="1" lang="en-GB" sz="800">
                <a:solidFill>
                  <a:schemeClr val="dk1"/>
                </a:solidFill>
              </a:rPr>
              <a:t>Background:</a:t>
            </a:r>
            <a:r>
              <a:rPr lang="en-GB" sz="800">
                <a:solidFill>
                  <a:schemeClr val="dk1"/>
                </a:solidFill>
              </a:rPr>
              <a:t> Smooth gradient from green to orange</a:t>
            </a:r>
            <a:endParaRPr sz="800">
              <a:solidFill>
                <a:schemeClr val="dk1"/>
              </a:solidFill>
            </a:endParaRPr>
          </a:p>
          <a:p>
            <a:pPr indent="-279400" lvl="0" marL="457200" rtl="0" algn="l">
              <a:lnSpc>
                <a:spcPct val="95000"/>
              </a:lnSpc>
              <a:spcBef>
                <a:spcPts val="0"/>
              </a:spcBef>
              <a:spcAft>
                <a:spcPts val="0"/>
              </a:spcAft>
              <a:buClr>
                <a:schemeClr val="dk1"/>
              </a:buClr>
              <a:buSzPts val="800"/>
              <a:buChar char="●"/>
            </a:pPr>
            <a:r>
              <a:rPr b="1" lang="en-GB" sz="800">
                <a:solidFill>
                  <a:schemeClr val="dk1"/>
                </a:solidFill>
              </a:rPr>
              <a:t>Logo:</a:t>
            </a:r>
            <a:r>
              <a:rPr lang="en-GB" sz="800">
                <a:solidFill>
                  <a:schemeClr val="dk1"/>
                </a:solidFill>
              </a:rPr>
              <a:t> Circular cluster of green and orange dots</a:t>
            </a:r>
            <a:endParaRPr sz="800">
              <a:solidFill>
                <a:schemeClr val="dk1"/>
              </a:solidFill>
            </a:endParaRPr>
          </a:p>
          <a:p>
            <a:pPr indent="-279400" lvl="0" marL="457200" rtl="0" algn="l">
              <a:lnSpc>
                <a:spcPct val="95000"/>
              </a:lnSpc>
              <a:spcBef>
                <a:spcPts val="0"/>
              </a:spcBef>
              <a:spcAft>
                <a:spcPts val="0"/>
              </a:spcAft>
              <a:buClr>
                <a:schemeClr val="dk1"/>
              </a:buClr>
              <a:buSzPts val="800"/>
              <a:buChar char="●"/>
            </a:pPr>
            <a:r>
              <a:rPr b="1" lang="en-GB" sz="800">
                <a:solidFill>
                  <a:schemeClr val="dk1"/>
                </a:solidFill>
              </a:rPr>
              <a:t>Buttons:</a:t>
            </a:r>
            <a:endParaRPr b="1" sz="800">
              <a:solidFill>
                <a:schemeClr val="dk1"/>
              </a:solidFill>
            </a:endParaRPr>
          </a:p>
          <a:p>
            <a:pPr indent="-279400" lvl="1" marL="914400" rtl="0" algn="l">
              <a:lnSpc>
                <a:spcPct val="95000"/>
              </a:lnSpc>
              <a:spcBef>
                <a:spcPts val="0"/>
              </a:spcBef>
              <a:spcAft>
                <a:spcPts val="0"/>
              </a:spcAft>
              <a:buClr>
                <a:schemeClr val="dk1"/>
              </a:buClr>
              <a:buSzPts val="800"/>
              <a:buChar char="○"/>
            </a:pPr>
            <a:r>
              <a:rPr b="1" lang="en-GB" sz="800">
                <a:solidFill>
                  <a:schemeClr val="dk1"/>
                </a:solidFill>
              </a:rPr>
              <a:t>Get Started</a:t>
            </a:r>
            <a:r>
              <a:rPr lang="en-GB" sz="800">
                <a:solidFill>
                  <a:schemeClr val="dk1"/>
                </a:solidFill>
              </a:rPr>
              <a:t> (orange)</a:t>
            </a:r>
            <a:endParaRPr sz="800">
              <a:solidFill>
                <a:schemeClr val="dk1"/>
              </a:solidFill>
            </a:endParaRPr>
          </a:p>
          <a:p>
            <a:pPr indent="-279400" lvl="1" marL="914400" rtl="0" algn="l">
              <a:lnSpc>
                <a:spcPct val="95000"/>
              </a:lnSpc>
              <a:spcBef>
                <a:spcPts val="0"/>
              </a:spcBef>
              <a:spcAft>
                <a:spcPts val="0"/>
              </a:spcAft>
              <a:buClr>
                <a:schemeClr val="dk1"/>
              </a:buClr>
              <a:buSzPts val="800"/>
              <a:buChar char="○"/>
            </a:pPr>
            <a:r>
              <a:rPr b="1" lang="en-GB" sz="800">
                <a:solidFill>
                  <a:schemeClr val="dk1"/>
                </a:solidFill>
              </a:rPr>
              <a:t>Log In</a:t>
            </a:r>
            <a:r>
              <a:rPr lang="en-GB" sz="800">
                <a:solidFill>
                  <a:schemeClr val="dk1"/>
                </a:solidFill>
              </a:rPr>
              <a:t> (green)</a:t>
            </a:r>
            <a:endParaRPr sz="800">
              <a:solidFill>
                <a:schemeClr val="dk1"/>
              </a:solidFill>
            </a:endParaRPr>
          </a:p>
          <a:p>
            <a:pPr indent="-285750" lvl="0" marL="457200" rtl="0" algn="l">
              <a:lnSpc>
                <a:spcPct val="95000"/>
              </a:lnSpc>
              <a:spcBef>
                <a:spcPts val="0"/>
              </a:spcBef>
              <a:spcAft>
                <a:spcPts val="0"/>
              </a:spcAft>
              <a:buClr>
                <a:schemeClr val="dk1"/>
              </a:buClr>
              <a:buSzPts val="900"/>
              <a:buChar char="●"/>
            </a:pPr>
            <a:r>
              <a:rPr b="1" lang="en-GB" sz="800">
                <a:solidFill>
                  <a:schemeClr val="dk1"/>
                </a:solidFill>
              </a:rPr>
              <a:t>Tagline:</a:t>
            </a:r>
            <a:r>
              <a:rPr lang="en-GB" sz="800">
                <a:solidFill>
                  <a:schemeClr val="dk1"/>
                </a:solidFill>
              </a:rPr>
              <a:t> Clearly displayed under the logo</a:t>
            </a:r>
            <a:endParaRPr sz="800">
              <a:solidFill>
                <a:schemeClr val="dk1"/>
              </a:solidFill>
            </a:endParaRPr>
          </a:p>
          <a:p>
            <a:pPr indent="0" lvl="0" marL="0" rtl="0" algn="l">
              <a:lnSpc>
                <a:spcPct val="95000"/>
              </a:lnSpc>
              <a:spcBef>
                <a:spcPts val="1200"/>
              </a:spcBef>
              <a:spcAft>
                <a:spcPts val="0"/>
              </a:spcAft>
              <a:buNone/>
            </a:pPr>
            <a:r>
              <a:rPr lang="en-GB" sz="800">
                <a:solidFill>
                  <a:schemeClr val="dk1"/>
                </a:solidFill>
              </a:rPr>
              <a:t>Then: 2.</a:t>
            </a:r>
            <a:r>
              <a:rPr lang="en-GB" sz="900">
                <a:solidFill>
                  <a:schemeClr val="dk1"/>
                </a:solidFill>
              </a:rPr>
              <a:t> </a:t>
            </a:r>
            <a:r>
              <a:rPr b="1" lang="en-GB" sz="900">
                <a:solidFill>
                  <a:schemeClr val="dk1"/>
                </a:solidFill>
              </a:rPr>
              <a:t>Create Your Circle</a:t>
            </a:r>
            <a:endParaRPr b="1" sz="900">
              <a:solidFill>
                <a:schemeClr val="dk1"/>
              </a:solidFill>
            </a:endParaRPr>
          </a:p>
          <a:p>
            <a:pPr indent="-285750" lvl="0" marL="457200" rtl="0" algn="l">
              <a:lnSpc>
                <a:spcPct val="95000"/>
              </a:lnSpc>
              <a:spcBef>
                <a:spcPts val="1200"/>
              </a:spcBef>
              <a:spcAft>
                <a:spcPts val="0"/>
              </a:spcAft>
              <a:buClr>
                <a:schemeClr val="dk1"/>
              </a:buClr>
              <a:buSzPts val="900"/>
              <a:buChar char="●"/>
            </a:pPr>
            <a:r>
              <a:rPr b="1" lang="en-GB" sz="900">
                <a:solidFill>
                  <a:schemeClr val="dk1"/>
                </a:solidFill>
              </a:rPr>
              <a:t>Purpose:</a:t>
            </a:r>
            <a:r>
              <a:rPr lang="en-GB" sz="900">
                <a:solidFill>
                  <a:schemeClr val="dk1"/>
                </a:solidFill>
              </a:rPr>
              <a:t> Choose your micro-community</a:t>
            </a:r>
            <a:endParaRPr sz="900">
              <a:solidFill>
                <a:schemeClr val="dk1"/>
              </a:solidFill>
            </a:endParaRPr>
          </a:p>
          <a:p>
            <a:pPr indent="0" lvl="0" marL="457200" rtl="0" algn="l">
              <a:lnSpc>
                <a:spcPct val="95000"/>
              </a:lnSpc>
              <a:spcBef>
                <a:spcPts val="1200"/>
              </a:spcBef>
              <a:spcAft>
                <a:spcPts val="0"/>
              </a:spcAft>
              <a:buNone/>
            </a:pPr>
            <a:r>
              <a:rPr b="1" lang="en-GB" sz="900">
                <a:solidFill>
                  <a:schemeClr val="dk1"/>
                </a:solidFill>
              </a:rPr>
              <a:t>Using the Options shown:</a:t>
            </a:r>
            <a:endParaRPr b="1" sz="900">
              <a:solidFill>
                <a:schemeClr val="dk1"/>
              </a:solidFill>
            </a:endParaRPr>
          </a:p>
          <a:p>
            <a:pPr indent="-285750" lvl="1" marL="914400" rtl="0" algn="l">
              <a:lnSpc>
                <a:spcPct val="95000"/>
              </a:lnSpc>
              <a:spcBef>
                <a:spcPts val="1200"/>
              </a:spcBef>
              <a:spcAft>
                <a:spcPts val="0"/>
              </a:spcAft>
              <a:buClr>
                <a:schemeClr val="dk1"/>
              </a:buClr>
              <a:buSzPts val="900"/>
              <a:buChar char="○"/>
            </a:pPr>
            <a:r>
              <a:rPr lang="en-GB" sz="900">
                <a:solidFill>
                  <a:schemeClr val="dk1"/>
                </a:solidFill>
              </a:rPr>
              <a:t>Local Hangouts</a:t>
            </a:r>
            <a:endParaRPr sz="900">
              <a:solidFill>
                <a:schemeClr val="dk1"/>
              </a:solidFill>
            </a:endParaRPr>
          </a:p>
          <a:p>
            <a:pPr indent="-285750" lvl="1" marL="914400" rtl="0" algn="l">
              <a:lnSpc>
                <a:spcPct val="95000"/>
              </a:lnSpc>
              <a:spcBef>
                <a:spcPts val="0"/>
              </a:spcBef>
              <a:spcAft>
                <a:spcPts val="0"/>
              </a:spcAft>
              <a:buClr>
                <a:schemeClr val="dk1"/>
              </a:buClr>
              <a:buSzPts val="900"/>
              <a:buChar char="○"/>
            </a:pPr>
            <a:r>
              <a:rPr lang="en-GB" sz="900">
                <a:solidFill>
                  <a:schemeClr val="dk1"/>
                </a:solidFill>
              </a:rPr>
              <a:t>Fitness Buddies ✅</a:t>
            </a:r>
            <a:endParaRPr sz="900">
              <a:solidFill>
                <a:schemeClr val="dk1"/>
              </a:solidFill>
            </a:endParaRPr>
          </a:p>
          <a:p>
            <a:pPr indent="-285750" lvl="1" marL="914400" rtl="0" algn="l">
              <a:lnSpc>
                <a:spcPct val="95000"/>
              </a:lnSpc>
              <a:spcBef>
                <a:spcPts val="0"/>
              </a:spcBef>
              <a:spcAft>
                <a:spcPts val="0"/>
              </a:spcAft>
              <a:buClr>
                <a:schemeClr val="dk1"/>
              </a:buClr>
              <a:buSzPts val="900"/>
              <a:buChar char="○"/>
            </a:pPr>
            <a:r>
              <a:rPr lang="en-GB" sz="900">
                <a:solidFill>
                  <a:schemeClr val="dk1"/>
                </a:solidFill>
              </a:rPr>
              <a:t>Study Group</a:t>
            </a:r>
            <a:endParaRPr sz="900">
              <a:solidFill>
                <a:schemeClr val="dk1"/>
              </a:solidFill>
            </a:endParaRPr>
          </a:p>
          <a:p>
            <a:pPr indent="-285750" lvl="1" marL="914400" rtl="0" algn="l">
              <a:lnSpc>
                <a:spcPct val="95000"/>
              </a:lnSpc>
              <a:spcBef>
                <a:spcPts val="0"/>
              </a:spcBef>
              <a:spcAft>
                <a:spcPts val="0"/>
              </a:spcAft>
              <a:buClr>
                <a:schemeClr val="dk1"/>
              </a:buClr>
              <a:buSzPts val="900"/>
              <a:buChar char="○"/>
            </a:pPr>
            <a:r>
              <a:rPr lang="en-GB" sz="900">
                <a:solidFill>
                  <a:schemeClr val="dk1"/>
                </a:solidFill>
              </a:rPr>
              <a:t>Local Adventures</a:t>
            </a:r>
            <a:endParaRPr sz="900">
              <a:solidFill>
                <a:schemeClr val="dk1"/>
              </a:solidFill>
            </a:endParaRPr>
          </a:p>
          <a:p>
            <a:pPr indent="0" lvl="0" marL="0" rtl="0" algn="l">
              <a:lnSpc>
                <a:spcPct val="95000"/>
              </a:lnSpc>
              <a:spcBef>
                <a:spcPts val="1200"/>
              </a:spcBef>
              <a:spcAft>
                <a:spcPts val="0"/>
              </a:spcAft>
              <a:buNone/>
            </a:pPr>
            <a:r>
              <a:rPr b="1" lang="en-GB" sz="800">
                <a:solidFill>
                  <a:schemeClr val="dk1"/>
                </a:solidFill>
              </a:rPr>
              <a:t>Then: 3</a:t>
            </a:r>
            <a:r>
              <a:rPr lang="en-GB" sz="900">
                <a:solidFill>
                  <a:schemeClr val="dk1"/>
                </a:solidFill>
              </a:rPr>
              <a:t>. </a:t>
            </a:r>
            <a:r>
              <a:rPr b="1" lang="en-GB" sz="900">
                <a:solidFill>
                  <a:schemeClr val="dk1"/>
                </a:solidFill>
              </a:rPr>
              <a:t>Home Feed</a:t>
            </a:r>
            <a:endParaRPr b="1" sz="900">
              <a:solidFill>
                <a:schemeClr val="dk1"/>
              </a:solidFill>
            </a:endParaRPr>
          </a:p>
          <a:p>
            <a:pPr indent="-285750" lvl="0" marL="457200" rtl="0" algn="l">
              <a:lnSpc>
                <a:spcPct val="75000"/>
              </a:lnSpc>
              <a:spcBef>
                <a:spcPts val="1200"/>
              </a:spcBef>
              <a:spcAft>
                <a:spcPts val="0"/>
              </a:spcAft>
              <a:buClr>
                <a:schemeClr val="dk1"/>
              </a:buClr>
              <a:buSzPts val="900"/>
              <a:buChar char="●"/>
            </a:pPr>
            <a:r>
              <a:rPr b="1" lang="en-GB" sz="900">
                <a:solidFill>
                  <a:schemeClr val="dk1"/>
                </a:solidFill>
              </a:rPr>
              <a:t>Circles featured:</a:t>
            </a:r>
            <a:endParaRPr b="1" sz="900">
              <a:solidFill>
                <a:schemeClr val="dk1"/>
              </a:solidFill>
            </a:endParaRPr>
          </a:p>
          <a:p>
            <a:pPr indent="-285750" lvl="1" marL="914400" rtl="0" algn="l">
              <a:lnSpc>
                <a:spcPct val="75000"/>
              </a:lnSpc>
              <a:spcBef>
                <a:spcPts val="0"/>
              </a:spcBef>
              <a:spcAft>
                <a:spcPts val="0"/>
              </a:spcAft>
              <a:buClr>
                <a:schemeClr val="dk1"/>
              </a:buClr>
              <a:buSzPts val="900"/>
              <a:buChar char="○"/>
            </a:pPr>
            <a:r>
              <a:rPr lang="en-GB" sz="900">
                <a:solidFill>
                  <a:schemeClr val="dk1"/>
                </a:solidFill>
              </a:rPr>
              <a:t>Local Crew</a:t>
            </a:r>
            <a:endParaRPr sz="900">
              <a:solidFill>
                <a:schemeClr val="dk1"/>
              </a:solidFill>
            </a:endParaRPr>
          </a:p>
          <a:p>
            <a:pPr indent="-285750" lvl="1" marL="914400" rtl="0" algn="l">
              <a:lnSpc>
                <a:spcPct val="75000"/>
              </a:lnSpc>
              <a:spcBef>
                <a:spcPts val="0"/>
              </a:spcBef>
              <a:spcAft>
                <a:spcPts val="0"/>
              </a:spcAft>
              <a:buClr>
                <a:schemeClr val="dk1"/>
              </a:buClr>
              <a:buSzPts val="900"/>
              <a:buChar char="○"/>
            </a:pPr>
            <a:r>
              <a:rPr lang="en-GB" sz="900">
                <a:solidFill>
                  <a:schemeClr val="dk1"/>
                </a:solidFill>
              </a:rPr>
              <a:t>Study Squad</a:t>
            </a:r>
            <a:endParaRPr sz="900">
              <a:solidFill>
                <a:schemeClr val="dk1"/>
              </a:solidFill>
            </a:endParaRPr>
          </a:p>
          <a:p>
            <a:pPr indent="-285750" lvl="0" marL="457200" rtl="0" algn="l">
              <a:lnSpc>
                <a:spcPct val="75000"/>
              </a:lnSpc>
              <a:spcBef>
                <a:spcPts val="0"/>
              </a:spcBef>
              <a:spcAft>
                <a:spcPts val="0"/>
              </a:spcAft>
              <a:buClr>
                <a:schemeClr val="dk1"/>
              </a:buClr>
              <a:buSzPts val="900"/>
              <a:buChar char="●"/>
            </a:pPr>
            <a:r>
              <a:rPr b="1" lang="en-GB" sz="900">
                <a:solidFill>
                  <a:schemeClr val="dk1"/>
                </a:solidFill>
              </a:rPr>
              <a:t>Posts include:</a:t>
            </a:r>
            <a:endParaRPr b="1" sz="900">
              <a:solidFill>
                <a:schemeClr val="dk1"/>
              </a:solidFill>
            </a:endParaRPr>
          </a:p>
          <a:p>
            <a:pPr indent="-285750" lvl="1" marL="914400" rtl="0" algn="l">
              <a:lnSpc>
                <a:spcPct val="75000"/>
              </a:lnSpc>
              <a:spcBef>
                <a:spcPts val="0"/>
              </a:spcBef>
              <a:spcAft>
                <a:spcPts val="0"/>
              </a:spcAft>
              <a:buClr>
                <a:schemeClr val="dk1"/>
              </a:buClr>
              <a:buSzPts val="900"/>
              <a:buChar char="○"/>
            </a:pPr>
            <a:r>
              <a:rPr lang="en-GB" sz="900">
                <a:solidFill>
                  <a:schemeClr val="dk1"/>
                </a:solidFill>
              </a:rPr>
              <a:t>Alex: “Who’s up for a hike this Saturday?”</a:t>
            </a:r>
            <a:endParaRPr sz="900">
              <a:solidFill>
                <a:schemeClr val="dk1"/>
              </a:solidFill>
            </a:endParaRPr>
          </a:p>
          <a:p>
            <a:pPr indent="-285750" lvl="1" marL="914400" rtl="0" algn="l">
              <a:lnSpc>
                <a:spcPct val="75000"/>
              </a:lnSpc>
              <a:spcBef>
                <a:spcPts val="0"/>
              </a:spcBef>
              <a:spcAft>
                <a:spcPts val="0"/>
              </a:spcAft>
              <a:buClr>
                <a:schemeClr val="dk1"/>
              </a:buClr>
              <a:buSzPts val="900"/>
              <a:buChar char="○"/>
            </a:pPr>
            <a:r>
              <a:rPr lang="en-GB" sz="900">
                <a:solidFill>
                  <a:schemeClr val="dk1"/>
                </a:solidFill>
              </a:rPr>
              <a:t>Jess: “Group study session at my place tonight”</a:t>
            </a:r>
            <a:endParaRPr sz="900">
              <a:solidFill>
                <a:schemeClr val="dk1"/>
              </a:solidFill>
            </a:endParaRPr>
          </a:p>
          <a:p>
            <a:pPr indent="-285750" lvl="0" marL="457200" rtl="0" algn="l">
              <a:lnSpc>
                <a:spcPct val="75000"/>
              </a:lnSpc>
              <a:spcBef>
                <a:spcPts val="0"/>
              </a:spcBef>
              <a:spcAft>
                <a:spcPts val="0"/>
              </a:spcAft>
              <a:buClr>
                <a:schemeClr val="dk1"/>
              </a:buClr>
              <a:buSzPts val="900"/>
              <a:buChar char="●"/>
            </a:pPr>
            <a:r>
              <a:rPr b="1" lang="en-GB" sz="900">
                <a:solidFill>
                  <a:schemeClr val="dk1"/>
                </a:solidFill>
              </a:rPr>
              <a:t>Engagement icons:</a:t>
            </a:r>
            <a:r>
              <a:rPr lang="en-GB" sz="900">
                <a:solidFill>
                  <a:schemeClr val="dk1"/>
                </a:solidFill>
              </a:rPr>
              <a:t> ❤️ Likes, 🔁 Shares, 💬 Comments</a:t>
            </a:r>
            <a:endParaRPr sz="900">
              <a:solidFill>
                <a:schemeClr val="dk1"/>
              </a:solidFill>
            </a:endParaRPr>
          </a:p>
          <a:p>
            <a:pPr indent="0" lvl="0" marL="0" rtl="0" algn="l">
              <a:lnSpc>
                <a:spcPct val="95000"/>
              </a:lnSpc>
              <a:spcBef>
                <a:spcPts val="1200"/>
              </a:spcBef>
              <a:spcAft>
                <a:spcPts val="0"/>
              </a:spcAft>
              <a:buNone/>
            </a:pPr>
            <a:r>
              <a:rPr b="1" lang="en-GB" sz="800">
                <a:solidFill>
                  <a:schemeClr val="dk1"/>
                </a:solidFill>
              </a:rPr>
              <a:t>Then: </a:t>
            </a:r>
            <a:r>
              <a:rPr lang="en-GB" sz="900">
                <a:solidFill>
                  <a:schemeClr val="dk1"/>
                </a:solidFill>
              </a:rPr>
              <a:t>4. </a:t>
            </a:r>
            <a:r>
              <a:rPr b="1" lang="en-GB" sz="900">
                <a:solidFill>
                  <a:schemeClr val="dk1"/>
                </a:solidFill>
              </a:rPr>
              <a:t>Chat Screen</a:t>
            </a:r>
            <a:endParaRPr b="1" sz="900">
              <a:solidFill>
                <a:schemeClr val="dk1"/>
              </a:solidFill>
            </a:endParaRPr>
          </a:p>
          <a:p>
            <a:pPr indent="-285750" lvl="0" marL="457200" rtl="0" algn="l">
              <a:lnSpc>
                <a:spcPct val="75000"/>
              </a:lnSpc>
              <a:spcBef>
                <a:spcPts val="1200"/>
              </a:spcBef>
              <a:spcAft>
                <a:spcPts val="0"/>
              </a:spcAft>
              <a:buClr>
                <a:schemeClr val="dk1"/>
              </a:buClr>
              <a:buSzPts val="900"/>
              <a:buChar char="●"/>
            </a:pPr>
            <a:r>
              <a:rPr b="1" lang="en-GB" sz="900">
                <a:solidFill>
                  <a:schemeClr val="dk1"/>
                </a:solidFill>
              </a:rPr>
              <a:t>Circle:</a:t>
            </a:r>
            <a:r>
              <a:rPr lang="en-GB" sz="900">
                <a:solidFill>
                  <a:schemeClr val="dk1"/>
                </a:solidFill>
              </a:rPr>
              <a:t> Game Night Chat</a:t>
            </a:r>
            <a:endParaRPr sz="900">
              <a:solidFill>
                <a:schemeClr val="dk1"/>
              </a:solidFill>
            </a:endParaRPr>
          </a:p>
          <a:p>
            <a:pPr indent="-285750" lvl="0" marL="457200" rtl="0" algn="l">
              <a:lnSpc>
                <a:spcPct val="75000"/>
              </a:lnSpc>
              <a:spcBef>
                <a:spcPts val="0"/>
              </a:spcBef>
              <a:spcAft>
                <a:spcPts val="0"/>
              </a:spcAft>
              <a:buClr>
                <a:schemeClr val="dk1"/>
              </a:buClr>
              <a:buSzPts val="900"/>
              <a:buChar char="●"/>
            </a:pPr>
            <a:r>
              <a:rPr b="1" lang="en-GB" sz="900">
                <a:solidFill>
                  <a:schemeClr val="dk1"/>
                </a:solidFill>
              </a:rPr>
              <a:t>Messages:</a:t>
            </a:r>
            <a:endParaRPr b="1" sz="900">
              <a:solidFill>
                <a:schemeClr val="dk1"/>
              </a:solidFill>
            </a:endParaRPr>
          </a:p>
          <a:p>
            <a:pPr indent="-285750" lvl="1" marL="914400" rtl="0" algn="l">
              <a:lnSpc>
                <a:spcPct val="75000"/>
              </a:lnSpc>
              <a:spcBef>
                <a:spcPts val="0"/>
              </a:spcBef>
              <a:spcAft>
                <a:spcPts val="0"/>
              </a:spcAft>
              <a:buClr>
                <a:schemeClr val="dk1"/>
              </a:buClr>
              <a:buSzPts val="900"/>
              <a:buChar char="○"/>
            </a:pPr>
            <a:r>
              <a:rPr lang="en-GB" sz="900">
                <a:solidFill>
                  <a:schemeClr val="dk1"/>
                </a:solidFill>
              </a:rPr>
              <a:t>“What time should we meet up?”</a:t>
            </a:r>
            <a:endParaRPr sz="900">
              <a:solidFill>
                <a:schemeClr val="dk1"/>
              </a:solidFill>
            </a:endParaRPr>
          </a:p>
          <a:p>
            <a:pPr indent="-285750" lvl="1" marL="914400" rtl="0" algn="l">
              <a:lnSpc>
                <a:spcPct val="75000"/>
              </a:lnSpc>
              <a:spcBef>
                <a:spcPts val="0"/>
              </a:spcBef>
              <a:spcAft>
                <a:spcPts val="0"/>
              </a:spcAft>
              <a:buClr>
                <a:schemeClr val="dk1"/>
              </a:buClr>
              <a:buSzPts val="900"/>
              <a:buChar char="○"/>
            </a:pPr>
            <a:r>
              <a:rPr lang="en-GB" sz="900">
                <a:solidFill>
                  <a:schemeClr val="dk1"/>
                </a:solidFill>
              </a:rPr>
              <a:t>“Let’s say 7 PM?”</a:t>
            </a:r>
            <a:endParaRPr sz="900">
              <a:solidFill>
                <a:schemeClr val="dk1"/>
              </a:solidFill>
            </a:endParaRPr>
          </a:p>
          <a:p>
            <a:pPr indent="-285750" lvl="0" marL="457200" rtl="0" algn="l">
              <a:lnSpc>
                <a:spcPct val="75000"/>
              </a:lnSpc>
              <a:spcBef>
                <a:spcPts val="0"/>
              </a:spcBef>
              <a:spcAft>
                <a:spcPts val="0"/>
              </a:spcAft>
              <a:buClr>
                <a:schemeClr val="dk1"/>
              </a:buClr>
              <a:buSzPts val="900"/>
              <a:buChar char="●"/>
            </a:pPr>
            <a:r>
              <a:rPr b="1" lang="en-GB" sz="900">
                <a:solidFill>
                  <a:schemeClr val="dk1"/>
                </a:solidFill>
              </a:rPr>
              <a:t>Quick-action icons:</a:t>
            </a:r>
            <a:endParaRPr b="1" sz="900">
              <a:solidFill>
                <a:schemeClr val="dk1"/>
              </a:solidFill>
            </a:endParaRPr>
          </a:p>
          <a:p>
            <a:pPr indent="-285750" lvl="0" marL="457200" rtl="0" algn="l">
              <a:lnSpc>
                <a:spcPct val="75000"/>
              </a:lnSpc>
              <a:spcBef>
                <a:spcPts val="0"/>
              </a:spcBef>
              <a:spcAft>
                <a:spcPts val="0"/>
              </a:spcAft>
              <a:buClr>
                <a:schemeClr val="dk1"/>
              </a:buClr>
              <a:buSzPts val="900"/>
              <a:buChar char="●"/>
            </a:pPr>
            <a:r>
              <a:rPr lang="en-GB" sz="900">
                <a:solidFill>
                  <a:schemeClr val="dk1"/>
                </a:solidFill>
              </a:rPr>
              <a:t>Location pin</a:t>
            </a:r>
            <a:endParaRPr sz="900">
              <a:solidFill>
                <a:schemeClr val="dk1"/>
              </a:solidFill>
            </a:endParaRPr>
          </a:p>
          <a:p>
            <a:pPr indent="-285750" lvl="0" marL="457200" rtl="0" algn="l">
              <a:lnSpc>
                <a:spcPct val="75000"/>
              </a:lnSpc>
              <a:spcBef>
                <a:spcPts val="0"/>
              </a:spcBef>
              <a:spcAft>
                <a:spcPts val="0"/>
              </a:spcAft>
              <a:buClr>
                <a:schemeClr val="dk1"/>
              </a:buClr>
              <a:buSzPts val="900"/>
              <a:buChar char="●"/>
            </a:pPr>
            <a:r>
              <a:rPr lang="en-GB" sz="900">
                <a:solidFill>
                  <a:schemeClr val="dk1"/>
                </a:solidFill>
              </a:rPr>
              <a:t>Poll</a:t>
            </a:r>
            <a:endParaRPr sz="900">
              <a:solidFill>
                <a:schemeClr val="dk1"/>
              </a:solidFill>
            </a:endParaRPr>
          </a:p>
          <a:p>
            <a:pPr indent="-285750" lvl="0" marL="457200" rtl="0" algn="l">
              <a:lnSpc>
                <a:spcPct val="75000"/>
              </a:lnSpc>
              <a:spcBef>
                <a:spcPts val="0"/>
              </a:spcBef>
              <a:spcAft>
                <a:spcPts val="0"/>
              </a:spcAft>
              <a:buClr>
                <a:schemeClr val="dk1"/>
              </a:buClr>
              <a:buSzPts val="900"/>
              <a:buChar char="●"/>
            </a:pPr>
            <a:r>
              <a:rPr lang="en-GB" sz="900">
                <a:solidFill>
                  <a:schemeClr val="dk1"/>
                </a:solidFill>
              </a:rPr>
              <a:t>Photo</a:t>
            </a:r>
            <a:endParaRPr sz="900">
              <a:solidFill>
                <a:schemeClr val="dk1"/>
              </a:solidFill>
            </a:endParaRPr>
          </a:p>
          <a:p>
            <a:pPr indent="-285750" lvl="0" marL="457200" rtl="0" algn="l">
              <a:lnSpc>
                <a:spcPct val="75000"/>
              </a:lnSpc>
              <a:spcBef>
                <a:spcPts val="0"/>
              </a:spcBef>
              <a:spcAft>
                <a:spcPts val="0"/>
              </a:spcAft>
              <a:buClr>
                <a:schemeClr val="dk1"/>
              </a:buClr>
              <a:buSzPts val="900"/>
              <a:buChar char="●"/>
            </a:pPr>
            <a:r>
              <a:rPr lang="en-GB" sz="900">
                <a:solidFill>
                  <a:schemeClr val="dk1"/>
                </a:solidFill>
              </a:rPr>
              <a:t>Calendar</a:t>
            </a:r>
            <a:endParaRPr sz="900">
              <a:solidFill>
                <a:schemeClr val="dk1"/>
              </a:solidFill>
            </a:endParaRPr>
          </a:p>
          <a:p>
            <a:pPr indent="0" lvl="0" marL="0" rtl="0" algn="l">
              <a:lnSpc>
                <a:spcPct val="95000"/>
              </a:lnSpc>
              <a:spcBef>
                <a:spcPts val="1200"/>
              </a:spcBef>
              <a:spcAft>
                <a:spcPts val="0"/>
              </a:spcAft>
              <a:buNone/>
            </a:pPr>
            <a:r>
              <a:rPr b="1" lang="en-GB" sz="800">
                <a:solidFill>
                  <a:schemeClr val="dk1"/>
                </a:solidFill>
              </a:rPr>
              <a:t>Then: </a:t>
            </a:r>
            <a:r>
              <a:rPr lang="en-GB" sz="925">
                <a:solidFill>
                  <a:schemeClr val="dk1"/>
                </a:solidFill>
              </a:rPr>
              <a:t>5. </a:t>
            </a:r>
            <a:r>
              <a:rPr b="1" lang="en-GB" sz="925">
                <a:solidFill>
                  <a:schemeClr val="dk1"/>
                </a:solidFill>
              </a:rPr>
              <a:t>Events Screen</a:t>
            </a:r>
            <a:endParaRPr b="1" sz="925">
              <a:solidFill>
                <a:schemeClr val="dk1"/>
              </a:solidFill>
            </a:endParaRPr>
          </a:p>
          <a:p>
            <a:pPr indent="-287337" lvl="0" marL="457200" rtl="0" algn="l">
              <a:lnSpc>
                <a:spcPct val="75000"/>
              </a:lnSpc>
              <a:spcBef>
                <a:spcPts val="1200"/>
              </a:spcBef>
              <a:spcAft>
                <a:spcPts val="0"/>
              </a:spcAft>
              <a:buClr>
                <a:schemeClr val="dk1"/>
              </a:buClr>
              <a:buSzPts val="925"/>
              <a:buChar char="●"/>
            </a:pPr>
            <a:r>
              <a:rPr b="1" lang="en-GB" sz="925">
                <a:solidFill>
                  <a:schemeClr val="dk1"/>
                </a:solidFill>
              </a:rPr>
              <a:t>Upcoming Events:</a:t>
            </a:r>
            <a:endParaRPr b="1" sz="925">
              <a:solidFill>
                <a:schemeClr val="dk1"/>
              </a:solidFill>
            </a:endParaRPr>
          </a:p>
          <a:p>
            <a:pPr indent="-287337" lvl="1" marL="914400" rtl="0" algn="l">
              <a:lnSpc>
                <a:spcPct val="75000"/>
              </a:lnSpc>
              <a:spcBef>
                <a:spcPts val="0"/>
              </a:spcBef>
              <a:spcAft>
                <a:spcPts val="0"/>
              </a:spcAft>
              <a:buClr>
                <a:schemeClr val="dk1"/>
              </a:buClr>
              <a:buSzPts val="925"/>
              <a:buChar char="○"/>
            </a:pPr>
            <a:r>
              <a:rPr lang="en-GB" sz="925">
                <a:solidFill>
                  <a:schemeClr val="dk1"/>
                </a:solidFill>
              </a:rPr>
              <a:t>Trivia Night — Fri, July 9, 7:00 PM</a:t>
            </a:r>
            <a:endParaRPr sz="925">
              <a:solidFill>
                <a:schemeClr val="dk1"/>
              </a:solidFill>
            </a:endParaRPr>
          </a:p>
          <a:p>
            <a:pPr indent="-287337" lvl="1" marL="914400" rtl="0" algn="l">
              <a:lnSpc>
                <a:spcPct val="75000"/>
              </a:lnSpc>
              <a:spcBef>
                <a:spcPts val="0"/>
              </a:spcBef>
              <a:spcAft>
                <a:spcPts val="0"/>
              </a:spcAft>
              <a:buClr>
                <a:schemeClr val="dk1"/>
              </a:buClr>
              <a:buSzPts val="925"/>
              <a:buChar char="○"/>
            </a:pPr>
            <a:r>
              <a:rPr lang="en-GB" sz="925">
                <a:solidFill>
                  <a:schemeClr val="dk1"/>
                </a:solidFill>
              </a:rPr>
              <a:t>Weekend Hike — Sat, July 17, 10:00 AM</a:t>
            </a:r>
            <a:endParaRPr sz="925">
              <a:solidFill>
                <a:schemeClr val="dk1"/>
              </a:solidFill>
            </a:endParaRPr>
          </a:p>
          <a:p>
            <a:pPr indent="-287337" lvl="0" marL="457200" rtl="0" algn="l">
              <a:lnSpc>
                <a:spcPct val="75000"/>
              </a:lnSpc>
              <a:spcBef>
                <a:spcPts val="0"/>
              </a:spcBef>
              <a:spcAft>
                <a:spcPts val="0"/>
              </a:spcAft>
              <a:buClr>
                <a:schemeClr val="dk1"/>
              </a:buClr>
              <a:buSzPts val="925"/>
              <a:buChar char="●"/>
            </a:pPr>
            <a:r>
              <a:rPr b="1" lang="en-GB" sz="925">
                <a:solidFill>
                  <a:schemeClr val="dk1"/>
                </a:solidFill>
              </a:rPr>
              <a:t>Map preview:</a:t>
            </a:r>
            <a:r>
              <a:rPr lang="en-GB" sz="925">
                <a:solidFill>
                  <a:schemeClr val="dk1"/>
                </a:solidFill>
              </a:rPr>
              <a:t> Shows hike location</a:t>
            </a:r>
            <a:endParaRPr sz="925">
              <a:solidFill>
                <a:schemeClr val="dk1"/>
              </a:solidFill>
            </a:endParaRPr>
          </a:p>
          <a:p>
            <a:pPr indent="-287337" lvl="0" marL="457200" rtl="0" algn="l">
              <a:lnSpc>
                <a:spcPct val="75000"/>
              </a:lnSpc>
              <a:spcBef>
                <a:spcPts val="0"/>
              </a:spcBef>
              <a:spcAft>
                <a:spcPts val="0"/>
              </a:spcAft>
              <a:buClr>
                <a:schemeClr val="dk1"/>
              </a:buClr>
              <a:buSzPts val="925"/>
              <a:buChar char="●"/>
            </a:pPr>
            <a:r>
              <a:rPr b="1" lang="en-GB" sz="925">
                <a:solidFill>
                  <a:schemeClr val="dk1"/>
                </a:solidFill>
              </a:rPr>
              <a:t>Join button:</a:t>
            </a:r>
            <a:r>
              <a:rPr lang="en-GB" sz="925">
                <a:solidFill>
                  <a:schemeClr val="dk1"/>
                </a:solidFill>
              </a:rPr>
              <a:t> Clearly visible for RSVP</a:t>
            </a:r>
            <a:endParaRPr sz="925">
              <a:solidFill>
                <a:schemeClr val="dk1"/>
              </a:solidFill>
            </a:endParaRPr>
          </a:p>
          <a:p>
            <a:pPr indent="0" lvl="0" marL="0" rtl="0" algn="l">
              <a:lnSpc>
                <a:spcPct val="95000"/>
              </a:lnSpc>
              <a:spcBef>
                <a:spcPts val="1200"/>
              </a:spcBef>
              <a:spcAft>
                <a:spcPts val="0"/>
              </a:spcAft>
              <a:buNone/>
            </a:pPr>
            <a:r>
              <a:rPr b="1" lang="en-GB" sz="800">
                <a:solidFill>
                  <a:schemeClr val="dk1"/>
                </a:solidFill>
              </a:rPr>
              <a:t>Then: </a:t>
            </a:r>
            <a:r>
              <a:rPr lang="en-GB" sz="800">
                <a:solidFill>
                  <a:schemeClr val="dk1"/>
                </a:solidFill>
              </a:rPr>
              <a:t>6. </a:t>
            </a:r>
            <a:r>
              <a:rPr b="1" lang="en-GB" sz="800">
                <a:solidFill>
                  <a:schemeClr val="dk1"/>
                </a:solidFill>
              </a:rPr>
              <a:t>Profile Screen</a:t>
            </a:r>
            <a:endParaRPr b="1" sz="800">
              <a:solidFill>
                <a:schemeClr val="dk1"/>
              </a:solidFill>
            </a:endParaRPr>
          </a:p>
          <a:p>
            <a:pPr indent="-279400" lvl="0" marL="457200" rtl="0" algn="l">
              <a:lnSpc>
                <a:spcPct val="75000"/>
              </a:lnSpc>
              <a:spcBef>
                <a:spcPts val="1200"/>
              </a:spcBef>
              <a:spcAft>
                <a:spcPts val="0"/>
              </a:spcAft>
              <a:buClr>
                <a:schemeClr val="dk1"/>
              </a:buClr>
              <a:buSzPts val="800"/>
              <a:buChar char="●"/>
            </a:pPr>
            <a:r>
              <a:rPr b="1" lang="en-GB" sz="800">
                <a:solidFill>
                  <a:schemeClr val="dk1"/>
                </a:solidFill>
              </a:rPr>
              <a:t>User:</a:t>
            </a:r>
            <a:r>
              <a:rPr lang="en-GB" sz="800">
                <a:solidFill>
                  <a:schemeClr val="dk1"/>
                </a:solidFill>
              </a:rPr>
              <a:t> Emily Johnson</a:t>
            </a:r>
            <a:endParaRPr sz="800">
              <a:solidFill>
                <a:schemeClr val="dk1"/>
              </a:solidFill>
            </a:endParaRPr>
          </a:p>
          <a:p>
            <a:pPr indent="-279400" lvl="0" marL="457200" rtl="0" algn="l">
              <a:lnSpc>
                <a:spcPct val="75000"/>
              </a:lnSpc>
              <a:spcBef>
                <a:spcPts val="0"/>
              </a:spcBef>
              <a:spcAft>
                <a:spcPts val="0"/>
              </a:spcAft>
              <a:buClr>
                <a:schemeClr val="dk1"/>
              </a:buClr>
              <a:buSzPts val="800"/>
              <a:buChar char="●"/>
            </a:pPr>
            <a:r>
              <a:rPr b="1" lang="en-GB" sz="800">
                <a:solidFill>
                  <a:schemeClr val="dk1"/>
                </a:solidFill>
              </a:rPr>
              <a:t>Stats:Huddle-up App Prototype Overview</a:t>
            </a:r>
            <a:endParaRPr b="1" sz="800">
              <a:solidFill>
                <a:schemeClr val="dk1"/>
              </a:solidFill>
            </a:endParaRPr>
          </a:p>
          <a:p>
            <a:pPr indent="-279400" lvl="0" marL="457200" rtl="0" algn="l">
              <a:lnSpc>
                <a:spcPct val="75000"/>
              </a:lnSpc>
              <a:spcBef>
                <a:spcPts val="0"/>
              </a:spcBef>
              <a:spcAft>
                <a:spcPts val="0"/>
              </a:spcAft>
              <a:buClr>
                <a:schemeClr val="dk1"/>
              </a:buClr>
              <a:buSzPts val="800"/>
              <a:buChar char="●"/>
            </a:pPr>
            <a:r>
              <a:t/>
            </a:r>
            <a:endParaRPr b="1" sz="800">
              <a:solidFill>
                <a:schemeClr val="dk1"/>
              </a:solidFill>
            </a:endParaRPr>
          </a:p>
          <a:p>
            <a:pPr indent="-279400" lvl="1" marL="914400" rtl="0" algn="l">
              <a:lnSpc>
                <a:spcPct val="75000"/>
              </a:lnSpc>
              <a:spcBef>
                <a:spcPts val="0"/>
              </a:spcBef>
              <a:spcAft>
                <a:spcPts val="0"/>
              </a:spcAft>
              <a:buClr>
                <a:schemeClr val="dk1"/>
              </a:buClr>
              <a:buSzPts val="800"/>
              <a:buChar char="○"/>
            </a:pPr>
            <a:r>
              <a:rPr lang="en-GB" sz="800">
                <a:solidFill>
                  <a:schemeClr val="dk1"/>
                </a:solidFill>
              </a:rPr>
              <a:t>12 Circles</a:t>
            </a:r>
            <a:endParaRPr sz="800">
              <a:solidFill>
                <a:schemeClr val="dk1"/>
              </a:solidFill>
            </a:endParaRPr>
          </a:p>
          <a:p>
            <a:pPr indent="-279400" lvl="1" marL="914400" rtl="0" algn="l">
              <a:lnSpc>
                <a:spcPct val="75000"/>
              </a:lnSpc>
              <a:spcBef>
                <a:spcPts val="0"/>
              </a:spcBef>
              <a:spcAft>
                <a:spcPts val="0"/>
              </a:spcAft>
              <a:buClr>
                <a:schemeClr val="dk1"/>
              </a:buClr>
              <a:buSzPts val="800"/>
              <a:buChar char="○"/>
            </a:pPr>
            <a:r>
              <a:rPr lang="en-GB" sz="800">
                <a:solidFill>
                  <a:schemeClr val="dk1"/>
                </a:solidFill>
              </a:rPr>
              <a:t>8 Events</a:t>
            </a:r>
            <a:endParaRPr sz="800">
              <a:solidFill>
                <a:schemeClr val="dk1"/>
              </a:solidFill>
            </a:endParaRPr>
          </a:p>
          <a:p>
            <a:pPr indent="-279400" lvl="1" marL="914400" rtl="0" algn="l">
              <a:lnSpc>
                <a:spcPct val="75000"/>
              </a:lnSpc>
              <a:spcBef>
                <a:spcPts val="0"/>
              </a:spcBef>
              <a:spcAft>
                <a:spcPts val="0"/>
              </a:spcAft>
              <a:buClr>
                <a:schemeClr val="dk1"/>
              </a:buClr>
              <a:buSzPts val="800"/>
              <a:buChar char="○"/>
            </a:pPr>
            <a:r>
              <a:rPr lang="en-GB" sz="800">
                <a:solidFill>
                  <a:schemeClr val="dk1"/>
                </a:solidFill>
              </a:rPr>
              <a:t>5 Badges</a:t>
            </a:r>
            <a:endParaRPr sz="800">
              <a:solidFill>
                <a:schemeClr val="dk1"/>
              </a:solidFill>
            </a:endParaRPr>
          </a:p>
          <a:p>
            <a:pPr indent="-279400" lvl="0" marL="457200" rtl="0" algn="l">
              <a:lnSpc>
                <a:spcPct val="75000"/>
              </a:lnSpc>
              <a:spcBef>
                <a:spcPts val="0"/>
              </a:spcBef>
              <a:spcAft>
                <a:spcPts val="0"/>
              </a:spcAft>
              <a:buClr>
                <a:schemeClr val="dk1"/>
              </a:buClr>
              <a:buSzPts val="800"/>
              <a:buChar char="●"/>
            </a:pPr>
            <a:r>
              <a:rPr b="1" lang="en-GB" sz="800">
                <a:solidFill>
                  <a:schemeClr val="dk1"/>
                </a:solidFill>
              </a:rPr>
              <a:t>Bio:</a:t>
            </a:r>
            <a:endParaRPr b="1" sz="800">
              <a:solidFill>
                <a:schemeClr val="dk1"/>
              </a:solidFill>
            </a:endParaRPr>
          </a:p>
          <a:p>
            <a:pPr indent="-279400" lvl="1" marL="914400" rtl="0" algn="l">
              <a:lnSpc>
                <a:spcPct val="75000"/>
              </a:lnSpc>
              <a:spcBef>
                <a:spcPts val="0"/>
              </a:spcBef>
              <a:spcAft>
                <a:spcPts val="0"/>
              </a:spcAft>
              <a:buClr>
                <a:schemeClr val="dk1"/>
              </a:buClr>
              <a:buSzPts val="800"/>
              <a:buChar char="○"/>
            </a:pPr>
            <a:r>
              <a:rPr lang="en-GB" sz="800">
                <a:solidFill>
                  <a:schemeClr val="dk1"/>
                </a:solidFill>
              </a:rPr>
              <a:t>“Adventure lover, coffee enthusiast, &amp; always up for a game night!”</a:t>
            </a:r>
            <a:endParaRPr sz="800">
              <a:solidFill>
                <a:schemeClr val="dk1"/>
              </a:solidFill>
            </a:endParaRPr>
          </a:p>
          <a:p>
            <a:pPr indent="-279400" lvl="1" marL="914400" rtl="0" algn="l">
              <a:lnSpc>
                <a:spcPct val="75000"/>
              </a:lnSpc>
              <a:spcBef>
                <a:spcPts val="0"/>
              </a:spcBef>
              <a:spcAft>
                <a:spcPts val="0"/>
              </a:spcAft>
              <a:buClr>
                <a:schemeClr val="dk1"/>
              </a:buClr>
              <a:buSzPts val="800"/>
              <a:buChar char="○"/>
            </a:pPr>
            <a:r>
              <a:rPr lang="en-GB" sz="800">
                <a:solidFill>
                  <a:schemeClr val="dk1"/>
                </a:solidFill>
              </a:rPr>
              <a:t>Prompt: “What do you love doing in small groups?”</a:t>
            </a:r>
            <a:endParaRPr sz="800">
              <a:solidFill>
                <a:srgbClr val="595959"/>
              </a:solidFill>
              <a:latin typeface="Lato"/>
              <a:ea typeface="Lato"/>
              <a:cs typeface="Lato"/>
              <a:sym typeface="Lato"/>
            </a:endParaRPr>
          </a:p>
          <a:p>
            <a:pPr indent="0" lvl="0" marL="0" rtl="0" algn="l">
              <a:lnSpc>
                <a:spcPct val="95000"/>
              </a:lnSpc>
              <a:spcBef>
                <a:spcPts val="1200"/>
              </a:spcBef>
              <a:spcAft>
                <a:spcPts val="0"/>
              </a:spcAft>
              <a:buNone/>
            </a:pPr>
            <a:r>
              <a:rPr lang="en-GB" sz="800">
                <a:solidFill>
                  <a:schemeClr val="dk1"/>
                </a:solidFill>
              </a:rPr>
              <a:t>Finally: </a:t>
            </a:r>
            <a:r>
              <a:rPr lang="en-GB" sz="900">
                <a:solidFill>
                  <a:schemeClr val="dk1"/>
                </a:solidFill>
              </a:rPr>
              <a:t>Buttons are included to:</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GB" sz="900">
                <a:solidFill>
                  <a:schemeClr val="dk1"/>
                </a:solidFill>
              </a:rPr>
              <a:t>Edit Profile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GB" sz="900">
                <a:solidFill>
                  <a:schemeClr val="dk1"/>
                </a:solidFill>
              </a:rPr>
              <a:t>Manage Circles</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900">
                <a:solidFill>
                  <a:schemeClr val="dk1"/>
                </a:solidFill>
              </a:rPr>
              <a:t>So, the </a:t>
            </a:r>
            <a:r>
              <a:rPr b="1" lang="en-GB" sz="900">
                <a:solidFill>
                  <a:schemeClr val="dk1"/>
                </a:solidFill>
              </a:rPr>
              <a:t>Design of the app is</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b="1" lang="en-GB" sz="900">
                <a:solidFill>
                  <a:schemeClr val="dk1"/>
                </a:solidFill>
              </a:rPr>
              <a:t>Colour palette:</a:t>
            </a:r>
            <a:r>
              <a:rPr lang="en-GB" sz="900">
                <a:solidFill>
                  <a:schemeClr val="dk1"/>
                </a:solidFill>
              </a:rPr>
              <a:t> Soft green and orange tones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GB" sz="900">
                <a:solidFill>
                  <a:schemeClr val="dk1"/>
                </a:solidFill>
              </a:rPr>
              <a:t>Typography:</a:t>
            </a:r>
            <a:r>
              <a:rPr lang="en-GB" sz="900">
                <a:solidFill>
                  <a:schemeClr val="dk1"/>
                </a:solidFill>
              </a:rPr>
              <a:t> Friendly and modern fonts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GB" sz="900">
                <a:solidFill>
                  <a:schemeClr val="dk1"/>
                </a:solidFill>
              </a:rPr>
              <a:t>Layout:</a:t>
            </a:r>
            <a:r>
              <a:rPr lang="en-GB" sz="900">
                <a:solidFill>
                  <a:schemeClr val="dk1"/>
                </a:solidFill>
              </a:rPr>
              <a:t> Clean, rounded, and intuitive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GB" sz="900">
                <a:solidFill>
                  <a:schemeClr val="dk1"/>
                </a:solidFill>
              </a:rPr>
              <a:t>Mood:</a:t>
            </a:r>
            <a:r>
              <a:rPr lang="en-GB" sz="900">
                <a:solidFill>
                  <a:schemeClr val="dk1"/>
                </a:solidFill>
              </a:rPr>
              <a:t> Welcoming, energetic, and community-focused</a:t>
            </a:r>
            <a:endParaRPr sz="900">
              <a:solidFill>
                <a:schemeClr val="dk1"/>
              </a:solidFill>
            </a:endParaRPr>
          </a:p>
          <a:p>
            <a:pPr indent="0" lvl="0" marL="0" rtl="0" algn="l">
              <a:lnSpc>
                <a:spcPct val="95000"/>
              </a:lnSpc>
              <a:spcBef>
                <a:spcPts val="1200"/>
              </a:spcBef>
              <a:spcAft>
                <a:spcPts val="1200"/>
              </a:spcAft>
              <a:buNone/>
            </a:pPr>
            <a:r>
              <a:t/>
            </a:r>
            <a:endParaRPr b="1" sz="8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1c19530e5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1c19530e5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1c19530e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1c19530e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1c19530e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1c19530e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1c19530e5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1c19530e5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20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hyperlink" Target="https://pkclof.webwave.dev/"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3.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3"/>
          <p:cNvPicPr preferRelativeResize="0"/>
          <p:nvPr/>
        </p:nvPicPr>
        <p:blipFill>
          <a:blip r:embed="rId3">
            <a:alphaModFix/>
          </a:blip>
          <a:stretch>
            <a:fillRect/>
          </a:stretch>
        </p:blipFill>
        <p:spPr>
          <a:xfrm>
            <a:off x="-248838" y="6"/>
            <a:ext cx="9796874" cy="5348100"/>
          </a:xfrm>
          <a:prstGeom prst="rect">
            <a:avLst/>
          </a:prstGeom>
          <a:noFill/>
          <a:ln>
            <a:noFill/>
          </a:ln>
        </p:spPr>
      </p:pic>
      <p:sp>
        <p:nvSpPr>
          <p:cNvPr id="87" name="Google Shape;87;p13"/>
          <p:cNvSpPr/>
          <p:nvPr/>
        </p:nvSpPr>
        <p:spPr>
          <a:xfrm>
            <a:off x="605196" y="1233289"/>
            <a:ext cx="7933500" cy="366000"/>
          </a:xfrm>
          <a:prstGeom prst="roundRect">
            <a:avLst>
              <a:gd fmla="val 16667" name="adj"/>
            </a:avLst>
          </a:prstGeom>
          <a:solidFill>
            <a:srgbClr val="FFFFFF">
              <a:alpha val="70000"/>
            </a:srgbClr>
          </a:solidFill>
          <a:ln cap="flat" cmpd="sng" w="14525">
            <a:solidFill>
              <a:schemeClr val="dk2"/>
            </a:solidFill>
            <a:prstDash val="solid"/>
            <a:round/>
            <a:headEnd len="sm" w="sm" type="none"/>
            <a:tailEnd len="sm" w="sm" type="none"/>
          </a:ln>
        </p:spPr>
        <p:txBody>
          <a:bodyPr anchorCtr="0" anchor="ctr" bIns="139500" lIns="139500" spcFirstLastPara="1" rIns="139500" wrap="square" tIns="139500">
            <a:noAutofit/>
          </a:bodyPr>
          <a:lstStyle/>
          <a:p>
            <a:pPr indent="0" lvl="0" marL="0" rtl="0" algn="ctr">
              <a:spcBef>
                <a:spcPts val="0"/>
              </a:spcBef>
              <a:spcAft>
                <a:spcPts val="0"/>
              </a:spcAft>
              <a:buNone/>
            </a:pPr>
            <a:r>
              <a:rPr b="1" lang="en-GB" sz="2746">
                <a:solidFill>
                  <a:schemeClr val="dk2"/>
                </a:solidFill>
                <a:latin typeface="Lato"/>
                <a:ea typeface="Lato"/>
                <a:cs typeface="Lato"/>
                <a:sym typeface="Lato"/>
              </a:rPr>
              <a:t>A micro-community social media website version</a:t>
            </a:r>
            <a:endParaRPr b="1" sz="2136">
              <a:solidFill>
                <a:schemeClr val="dk2"/>
              </a:solidFill>
              <a:latin typeface="Lato"/>
              <a:ea typeface="Lato"/>
              <a:cs typeface="Lato"/>
              <a:sym typeface="Lato"/>
            </a:endParaRPr>
          </a:p>
        </p:txBody>
      </p:sp>
      <p:sp>
        <p:nvSpPr>
          <p:cNvPr id="88" name="Google Shape;88;p13"/>
          <p:cNvSpPr/>
          <p:nvPr/>
        </p:nvSpPr>
        <p:spPr>
          <a:xfrm>
            <a:off x="193200" y="4565775"/>
            <a:ext cx="4378800" cy="366000"/>
          </a:xfrm>
          <a:prstGeom prst="roundRect">
            <a:avLst>
              <a:gd fmla="val 16667" name="adj"/>
            </a:avLst>
          </a:prstGeom>
          <a:solidFill>
            <a:srgbClr val="FFFFFF">
              <a:alpha val="80000"/>
            </a:srgbClr>
          </a:solidFill>
          <a:ln cap="flat" cmpd="sng" w="14525">
            <a:solidFill>
              <a:schemeClr val="dk2"/>
            </a:solidFill>
            <a:prstDash val="solid"/>
            <a:round/>
            <a:headEnd len="sm" w="sm" type="none"/>
            <a:tailEnd len="sm" w="sm" type="none"/>
          </a:ln>
        </p:spPr>
        <p:txBody>
          <a:bodyPr anchorCtr="0" anchor="ctr" bIns="139500" lIns="139500" spcFirstLastPara="1" rIns="139500" wrap="square" tIns="139500">
            <a:noAutofit/>
          </a:bodyPr>
          <a:lstStyle/>
          <a:p>
            <a:pPr indent="0" lvl="0" marL="0" rtl="0" algn="ctr">
              <a:spcBef>
                <a:spcPts val="0"/>
              </a:spcBef>
              <a:spcAft>
                <a:spcPts val="0"/>
              </a:spcAft>
              <a:buNone/>
            </a:pPr>
            <a:r>
              <a:rPr b="1" lang="en-GB" sz="1600">
                <a:solidFill>
                  <a:schemeClr val="dk2"/>
                </a:solidFill>
                <a:latin typeface="Lato"/>
                <a:ea typeface="Lato"/>
                <a:cs typeface="Lato"/>
                <a:sym typeface="Lato"/>
              </a:rPr>
              <a:t>Presented by: Moses, Megha, Sam, Amisha</a:t>
            </a:r>
            <a:endParaRPr b="1" sz="2746">
              <a:solidFill>
                <a:schemeClr val="dk2"/>
              </a:solidFill>
              <a:latin typeface="Lato"/>
              <a:ea typeface="Lato"/>
              <a:cs typeface="Lato"/>
              <a:sym typeface="Lato"/>
            </a:endParaRPr>
          </a:p>
        </p:txBody>
      </p:sp>
      <p:pic>
        <p:nvPicPr>
          <p:cNvPr id="89" name="Google Shape;89;p13"/>
          <p:cNvPicPr preferRelativeResize="0"/>
          <p:nvPr/>
        </p:nvPicPr>
        <p:blipFill rotWithShape="1">
          <a:blip r:embed="rId4">
            <a:alphaModFix/>
          </a:blip>
          <a:srcRect b="27820" l="0" r="0" t="27250"/>
          <a:stretch/>
        </p:blipFill>
        <p:spPr>
          <a:xfrm>
            <a:off x="2601000" y="197550"/>
            <a:ext cx="3942000" cy="966900"/>
          </a:xfrm>
          <a:prstGeom prst="roundRect">
            <a:avLst>
              <a:gd fmla="val 50000" name="adj"/>
            </a:avLst>
          </a:prstGeom>
          <a:noFill/>
          <a:ln>
            <a:noFill/>
          </a:ln>
        </p:spPr>
      </p:pic>
      <p:sp>
        <p:nvSpPr>
          <p:cNvPr id="90" name="Google Shape;90;p13"/>
          <p:cNvSpPr/>
          <p:nvPr/>
        </p:nvSpPr>
        <p:spPr>
          <a:xfrm>
            <a:off x="6505225" y="4388925"/>
            <a:ext cx="2570100" cy="719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Lato"/>
                <a:ea typeface="Lato"/>
                <a:cs typeface="Lato"/>
                <a:sym typeface="Lato"/>
              </a:rPr>
              <a:t>P</a:t>
            </a:r>
            <a:r>
              <a:rPr b="1" lang="en-GB" sz="1600">
                <a:solidFill>
                  <a:schemeClr val="dk2"/>
                </a:solidFill>
                <a:latin typeface="Lato"/>
                <a:ea typeface="Lato"/>
                <a:cs typeface="Lato"/>
                <a:sym typeface="Lato"/>
              </a:rPr>
              <a:t>roject is provided </a:t>
            </a:r>
            <a:r>
              <a:rPr b="1" lang="en-GB" sz="1600" u="sng">
                <a:solidFill>
                  <a:srgbClr val="4A86E8"/>
                </a:solidFill>
                <a:latin typeface="Lato"/>
                <a:ea typeface="Lato"/>
                <a:cs typeface="Lato"/>
                <a:sym typeface="Lato"/>
                <a:hlinkClick r:id="rId5">
                  <a:extLst>
                    <a:ext uri="{A12FA001-AC4F-418D-AE19-62706E023703}">
                      <ahyp:hlinkClr val="tx"/>
                    </a:ext>
                  </a:extLst>
                </a:hlinkClick>
              </a:rPr>
              <a:t>here</a:t>
            </a:r>
            <a:endParaRPr b="1">
              <a:solidFill>
                <a:srgbClr val="4A86E8"/>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727650" y="617954"/>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our project is for</a:t>
            </a:r>
            <a:endParaRPr/>
          </a:p>
        </p:txBody>
      </p:sp>
      <p:sp>
        <p:nvSpPr>
          <p:cNvPr id="96" name="Google Shape;96;p14"/>
          <p:cNvSpPr txBox="1"/>
          <p:nvPr>
            <p:ph idx="1" type="body"/>
          </p:nvPr>
        </p:nvSpPr>
        <p:spPr>
          <a:xfrm>
            <a:off x="11605000" y="6528600"/>
            <a:ext cx="7688700" cy="2261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GB" sz="5600" u="sng"/>
              <a:t>What is our project chosen and what was it about?</a:t>
            </a:r>
            <a:endParaRPr sz="5600" u="sng"/>
          </a:p>
          <a:p>
            <a:pPr indent="0" lvl="0" marL="0" rtl="0" algn="l">
              <a:spcBef>
                <a:spcPts val="1200"/>
              </a:spcBef>
              <a:spcAft>
                <a:spcPts val="0"/>
              </a:spcAft>
              <a:buNone/>
            </a:pPr>
            <a:r>
              <a:rPr lang="en-GB" sz="5600"/>
              <a:t>HuddleUp is a social media app built around micro communities (“huddles”) instead of public feeds. A huddle is a small private group of people who share a goal or interest. Users join huddles for fitness, study, hobbies, mental health support, projects, and more.</a:t>
            </a:r>
            <a:endParaRPr sz="5600"/>
          </a:p>
          <a:p>
            <a:pPr indent="0" lvl="0" marL="0" rtl="0" algn="l">
              <a:spcBef>
                <a:spcPts val="1200"/>
              </a:spcBef>
              <a:spcAft>
                <a:spcPts val="0"/>
              </a:spcAft>
              <a:buNone/>
            </a:pPr>
            <a:r>
              <a:rPr lang="en-GB" sz="5600" u="sng"/>
              <a:t>Why did we choose this idea for our project?</a:t>
            </a:r>
            <a:endParaRPr sz="5600" u="sng"/>
          </a:p>
          <a:p>
            <a:pPr indent="0" lvl="0" marL="0" rtl="0" algn="l">
              <a:spcBef>
                <a:spcPts val="1200"/>
              </a:spcBef>
              <a:spcAft>
                <a:spcPts val="0"/>
              </a:spcAft>
              <a:buNone/>
            </a:pPr>
            <a:r>
              <a:rPr lang="en-GB" sz="5600"/>
              <a:t>People have friends and followers, but still feel lonely.  Big social platforms are noisy, algorithm-driven, and often toxic. So, it is hard to find a small, trusted group online where everyone is heard.</a:t>
            </a:r>
            <a:endParaRPr sz="5600"/>
          </a:p>
          <a:p>
            <a:pPr indent="0" lvl="0" marL="0" rtl="0" algn="l">
              <a:spcBef>
                <a:spcPts val="1200"/>
              </a:spcBef>
              <a:spcAft>
                <a:spcPts val="0"/>
              </a:spcAft>
              <a:buNone/>
            </a:pPr>
            <a:r>
              <a:rPr lang="en-GB" sz="5600"/>
              <a:t>Platforms we used to build our project - WebWave</a:t>
            </a:r>
            <a:endParaRPr sz="56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97" name="Google Shape;97;p14"/>
          <p:cNvSpPr/>
          <p:nvPr/>
        </p:nvSpPr>
        <p:spPr>
          <a:xfrm>
            <a:off x="727650" y="1574700"/>
            <a:ext cx="4484400" cy="636600"/>
          </a:xfrm>
          <a:prstGeom prst="snip1Rect">
            <a:avLst>
              <a:gd fmla="val 50000" name="adj"/>
            </a:avLst>
          </a:prstGeom>
          <a:solidFill>
            <a:srgbClr val="E9EDEE"/>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b="1" lang="en-GB">
                <a:latin typeface="Lato"/>
                <a:ea typeface="Lato"/>
                <a:cs typeface="Lato"/>
                <a:sym typeface="Lato"/>
              </a:rPr>
              <a:t>“</a:t>
            </a:r>
            <a:r>
              <a:rPr b="1" i="1" lang="en-GB">
                <a:latin typeface="Lato"/>
                <a:ea typeface="Lato"/>
                <a:cs typeface="Lato"/>
                <a:sym typeface="Lato"/>
              </a:rPr>
              <a:t>Huddles</a:t>
            </a:r>
            <a:r>
              <a:rPr b="1" lang="en-GB">
                <a:latin typeface="Lato"/>
                <a:ea typeface="Lato"/>
                <a:cs typeface="Lato"/>
                <a:sym typeface="Lato"/>
              </a:rPr>
              <a:t>”  - Micro community that is a private </a:t>
            </a:r>
            <a:endParaRPr b="1">
              <a:latin typeface="Lato"/>
              <a:ea typeface="Lato"/>
              <a:cs typeface="Lato"/>
              <a:sym typeface="Lato"/>
            </a:endParaRPr>
          </a:p>
          <a:p>
            <a:pPr indent="457200" lvl="0" marL="457200" rtl="0" algn="l">
              <a:spcBef>
                <a:spcPts val="0"/>
              </a:spcBef>
              <a:spcAft>
                <a:spcPts val="0"/>
              </a:spcAft>
              <a:buNone/>
            </a:pPr>
            <a:r>
              <a:rPr b="1" lang="en-GB">
                <a:latin typeface="Lato"/>
                <a:ea typeface="Lato"/>
                <a:cs typeface="Lato"/>
                <a:sym typeface="Lato"/>
              </a:rPr>
              <a:t>chat/feed that focuses on a shared topic</a:t>
            </a:r>
            <a:endParaRPr>
              <a:latin typeface="Lato"/>
              <a:ea typeface="Lato"/>
              <a:cs typeface="Lato"/>
              <a:sym typeface="Lato"/>
            </a:endParaRPr>
          </a:p>
        </p:txBody>
      </p:sp>
      <p:pic>
        <p:nvPicPr>
          <p:cNvPr id="98" name="Google Shape;98;p14" title="Points scored"/>
          <p:cNvPicPr preferRelativeResize="0"/>
          <p:nvPr/>
        </p:nvPicPr>
        <p:blipFill>
          <a:blip r:embed="rId3">
            <a:alphaModFix/>
          </a:blip>
          <a:stretch>
            <a:fillRect/>
          </a:stretch>
        </p:blipFill>
        <p:spPr>
          <a:xfrm>
            <a:off x="6296550" y="617950"/>
            <a:ext cx="2775699" cy="2345450"/>
          </a:xfrm>
          <a:prstGeom prst="rect">
            <a:avLst/>
          </a:prstGeom>
          <a:noFill/>
          <a:ln>
            <a:noFill/>
          </a:ln>
        </p:spPr>
      </p:pic>
      <p:pic>
        <p:nvPicPr>
          <p:cNvPr id="99" name="Google Shape;99;p14" title="Points scored"/>
          <p:cNvPicPr preferRelativeResize="0"/>
          <p:nvPr/>
        </p:nvPicPr>
        <p:blipFill>
          <a:blip r:embed="rId4">
            <a:alphaModFix/>
          </a:blip>
          <a:stretch>
            <a:fillRect/>
          </a:stretch>
        </p:blipFill>
        <p:spPr>
          <a:xfrm>
            <a:off x="6368300" y="2963400"/>
            <a:ext cx="2775699" cy="2162727"/>
          </a:xfrm>
          <a:prstGeom prst="rect">
            <a:avLst/>
          </a:prstGeom>
          <a:noFill/>
          <a:ln>
            <a:noFill/>
          </a:ln>
        </p:spPr>
      </p:pic>
      <p:sp>
        <p:nvSpPr>
          <p:cNvPr id="100" name="Google Shape;100;p14"/>
          <p:cNvSpPr/>
          <p:nvPr/>
        </p:nvSpPr>
        <p:spPr>
          <a:xfrm>
            <a:off x="727650" y="2326450"/>
            <a:ext cx="4979700" cy="1982100"/>
          </a:xfrm>
          <a:prstGeom prst="snip1Rect">
            <a:avLst>
              <a:gd fmla="val 24833" name="adj"/>
            </a:avLst>
          </a:prstGeom>
          <a:solidFill>
            <a:srgbClr val="E9ED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b="1" lang="en-GB" sz="1600" u="sng">
                <a:latin typeface="Lato"/>
                <a:ea typeface="Lato"/>
                <a:cs typeface="Lato"/>
                <a:sym typeface="Lato"/>
              </a:rPr>
              <a:t>WHY WE MADE HUDDLE-UP</a:t>
            </a:r>
            <a:endParaRPr b="1" sz="1600" u="sng">
              <a:latin typeface="Lato"/>
              <a:ea typeface="Lato"/>
              <a:cs typeface="Lato"/>
              <a:sym typeface="Lato"/>
            </a:endParaRPr>
          </a:p>
          <a:p>
            <a:pPr indent="-330200" lvl="0" marL="457200" rtl="0" algn="l">
              <a:spcBef>
                <a:spcPts val="0"/>
              </a:spcBef>
              <a:spcAft>
                <a:spcPts val="0"/>
              </a:spcAft>
              <a:buSzPts val="1600"/>
              <a:buFont typeface="Lato"/>
              <a:buChar char="●"/>
            </a:pPr>
            <a:r>
              <a:rPr b="1" lang="en-GB" sz="1600">
                <a:latin typeface="Lato"/>
                <a:ea typeface="Lato"/>
                <a:cs typeface="Lato"/>
                <a:sym typeface="Lato"/>
              </a:rPr>
              <a:t>LESS </a:t>
            </a:r>
            <a:r>
              <a:rPr lang="en-GB" sz="1600">
                <a:latin typeface="Lato"/>
                <a:ea typeface="Lato"/>
                <a:cs typeface="Lato"/>
                <a:sym typeface="Lato"/>
              </a:rPr>
              <a:t>Noisy</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b="1" lang="en-GB" sz="1600">
                <a:latin typeface="Lato"/>
                <a:ea typeface="Lato"/>
                <a:cs typeface="Lato"/>
                <a:sym typeface="Lato"/>
              </a:rPr>
              <a:t>LESS </a:t>
            </a:r>
            <a:r>
              <a:rPr lang="en-GB" sz="1600">
                <a:latin typeface="Lato"/>
                <a:ea typeface="Lato"/>
                <a:cs typeface="Lato"/>
                <a:sym typeface="Lato"/>
              </a:rPr>
              <a:t>Toxic</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b="1" lang="en-GB" sz="1600">
                <a:latin typeface="Lato"/>
                <a:ea typeface="Lato"/>
                <a:cs typeface="Lato"/>
                <a:sym typeface="Lato"/>
              </a:rPr>
              <a:t>MORE </a:t>
            </a:r>
            <a:r>
              <a:rPr lang="en-GB" sz="1600">
                <a:latin typeface="Lato"/>
                <a:ea typeface="Lato"/>
                <a:cs typeface="Lato"/>
                <a:sym typeface="Lato"/>
              </a:rPr>
              <a:t>personalised content</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b="1" lang="en-GB" sz="1600">
                <a:latin typeface="Lato"/>
                <a:ea typeface="Lato"/>
                <a:cs typeface="Lato"/>
                <a:sym typeface="Lato"/>
              </a:rPr>
              <a:t>MORE </a:t>
            </a:r>
            <a:r>
              <a:rPr lang="en-GB" sz="1600">
                <a:latin typeface="Lato"/>
                <a:ea typeface="Lato"/>
                <a:cs typeface="Lato"/>
                <a:sym typeface="Lato"/>
              </a:rPr>
              <a:t>Focused Discussion</a:t>
            </a:r>
            <a:endParaRPr sz="1600">
              <a:latin typeface="Lato"/>
              <a:ea typeface="Lato"/>
              <a:cs typeface="Lato"/>
              <a:sym typeface="Lato"/>
            </a:endParaRPr>
          </a:p>
          <a:p>
            <a:pPr indent="-330200" lvl="0" marL="457200" rtl="0" algn="l">
              <a:spcBef>
                <a:spcPts val="0"/>
              </a:spcBef>
              <a:spcAft>
                <a:spcPts val="0"/>
              </a:spcAft>
              <a:buSzPts val="1600"/>
              <a:buFont typeface="Lato"/>
              <a:buChar char="●"/>
            </a:pPr>
            <a:r>
              <a:rPr b="1" lang="en-GB" sz="1600">
                <a:latin typeface="Lato"/>
                <a:ea typeface="Lato"/>
                <a:cs typeface="Lato"/>
                <a:sym typeface="Lato"/>
              </a:rPr>
              <a:t>SMALLER, </a:t>
            </a:r>
            <a:r>
              <a:rPr lang="en-GB" sz="1600">
                <a:latin typeface="Lato"/>
                <a:ea typeface="Lato"/>
                <a:cs typeface="Lato"/>
                <a:sym typeface="Lato"/>
              </a:rPr>
              <a:t>trusted </a:t>
            </a:r>
            <a:r>
              <a:rPr lang="en-GB" sz="1600">
                <a:latin typeface="Lato"/>
                <a:ea typeface="Lato"/>
                <a:cs typeface="Lato"/>
                <a:sym typeface="Lato"/>
              </a:rPr>
              <a:t>groups</a:t>
            </a:r>
            <a:endParaRPr sz="1600">
              <a:latin typeface="Lato"/>
              <a:ea typeface="Lato"/>
              <a:cs typeface="Lato"/>
              <a:sym typeface="Lato"/>
            </a:endParaRPr>
          </a:p>
        </p:txBody>
      </p:sp>
      <p:sp>
        <p:nvSpPr>
          <p:cNvPr id="101" name="Google Shape;101;p14"/>
          <p:cNvSpPr/>
          <p:nvPr/>
        </p:nvSpPr>
        <p:spPr>
          <a:xfrm>
            <a:off x="727650" y="4423625"/>
            <a:ext cx="5223000" cy="369900"/>
          </a:xfrm>
          <a:prstGeom prst="snip1Rect">
            <a:avLst>
              <a:gd fmla="val 50000" name="adj"/>
            </a:avLst>
          </a:prstGeom>
          <a:solidFill>
            <a:srgbClr val="E9EDEE"/>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Lato"/>
                <a:ea typeface="Lato"/>
                <a:cs typeface="Lato"/>
                <a:sym typeface="Lato"/>
              </a:rPr>
              <a:t>Platforms we used to build our project - WebWave</a:t>
            </a:r>
            <a:endParaRPr b="1" sz="1600">
              <a:solidFill>
                <a:schemeClr val="dk2"/>
              </a:solidFill>
              <a:latin typeface="Lato"/>
              <a:ea typeface="Lato"/>
              <a:cs typeface="Lato"/>
              <a:sym typeface="Lato"/>
            </a:endParaRPr>
          </a:p>
        </p:txBody>
      </p:sp>
    </p:spTree>
  </p:cSld>
  <p:clrMapOvr>
    <a:masterClrMapping/>
  </p:clrMapOvr>
  <mc:AlternateContent>
    <mc:Choice Requires="p14">
      <p:transition spd="slow" p14:dur="2000">
        <p:fade thruBlk="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ph type="title"/>
          </p:nvPr>
        </p:nvSpPr>
        <p:spPr>
          <a:xfrm>
            <a:off x="729450" y="457275"/>
            <a:ext cx="7688700" cy="53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GB" sz="2640"/>
              <a:t>Our USP  </a:t>
            </a:r>
            <a:endParaRPr sz="2640"/>
          </a:p>
        </p:txBody>
      </p:sp>
      <p:pic>
        <p:nvPicPr>
          <p:cNvPr id="107" name="Google Shape;107;p15"/>
          <p:cNvPicPr preferRelativeResize="0"/>
          <p:nvPr/>
        </p:nvPicPr>
        <p:blipFill>
          <a:blip r:embed="rId3">
            <a:alphaModFix/>
          </a:blip>
          <a:stretch>
            <a:fillRect/>
          </a:stretch>
        </p:blipFill>
        <p:spPr>
          <a:xfrm>
            <a:off x="818525" y="1043500"/>
            <a:ext cx="7510541" cy="409999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ph type="title"/>
          </p:nvPr>
        </p:nvSpPr>
        <p:spPr>
          <a:xfrm>
            <a:off x="641550" y="5869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Branding, marketing &amp; advertising future growth</a:t>
            </a:r>
            <a:endParaRPr/>
          </a:p>
        </p:txBody>
      </p:sp>
      <p:graphicFrame>
        <p:nvGraphicFramePr>
          <p:cNvPr id="113" name="Google Shape;113;p16"/>
          <p:cNvGraphicFramePr/>
          <p:nvPr/>
        </p:nvGraphicFramePr>
        <p:xfrm>
          <a:off x="706125" y="1280250"/>
          <a:ext cx="3000000" cy="3000000"/>
        </p:xfrm>
        <a:graphic>
          <a:graphicData uri="http://schemas.openxmlformats.org/drawingml/2006/table">
            <a:tbl>
              <a:tblPr>
                <a:noFill/>
                <a:tableStyleId>{50F1E7F2-BD25-4246-848C-6C0A87D38408}</a:tableStyleId>
              </a:tblPr>
              <a:tblGrid>
                <a:gridCol w="2624625"/>
                <a:gridCol w="2624625"/>
                <a:gridCol w="2624625"/>
              </a:tblGrid>
              <a:tr h="376375">
                <a:tc>
                  <a:txBody>
                    <a:bodyPr/>
                    <a:lstStyle/>
                    <a:p>
                      <a:pPr indent="0" lvl="0" marL="0" rtl="0" algn="ctr">
                        <a:spcBef>
                          <a:spcPts val="0"/>
                        </a:spcBef>
                        <a:spcAft>
                          <a:spcPts val="0"/>
                        </a:spcAft>
                        <a:buNone/>
                      </a:pPr>
                      <a:r>
                        <a:rPr b="1" lang="en-GB" sz="1550"/>
                        <a:t>Branding</a:t>
                      </a:r>
                      <a:endParaRPr b="1" sz="1550"/>
                    </a:p>
                  </a:txBody>
                  <a:tcPr marT="91425" marB="91425" marR="91425" marL="91425" anchor="ctr">
                    <a:solidFill>
                      <a:srgbClr val="DD7E6B"/>
                    </a:solidFill>
                  </a:tcPr>
                </a:tc>
                <a:tc>
                  <a:txBody>
                    <a:bodyPr/>
                    <a:lstStyle/>
                    <a:p>
                      <a:pPr indent="0" lvl="0" marL="0" rtl="0" algn="ctr">
                        <a:spcBef>
                          <a:spcPts val="0"/>
                        </a:spcBef>
                        <a:spcAft>
                          <a:spcPts val="0"/>
                        </a:spcAft>
                        <a:buNone/>
                      </a:pPr>
                      <a:r>
                        <a:rPr b="1" lang="en-GB" sz="1550"/>
                        <a:t>Marketing</a:t>
                      </a:r>
                      <a:endParaRPr b="1" sz="1550"/>
                    </a:p>
                  </a:txBody>
                  <a:tcPr marT="91425" marB="91425" marR="91425" marL="91425" anchor="ctr">
                    <a:solidFill>
                      <a:srgbClr val="B6D7A8"/>
                    </a:solidFill>
                  </a:tcPr>
                </a:tc>
                <a:tc>
                  <a:txBody>
                    <a:bodyPr/>
                    <a:lstStyle/>
                    <a:p>
                      <a:pPr indent="0" lvl="0" marL="0" rtl="0" algn="ctr">
                        <a:spcBef>
                          <a:spcPts val="0"/>
                        </a:spcBef>
                        <a:spcAft>
                          <a:spcPts val="0"/>
                        </a:spcAft>
                        <a:buNone/>
                      </a:pPr>
                      <a:r>
                        <a:rPr b="1" lang="en-GB" sz="1550"/>
                        <a:t>Advertising future growth</a:t>
                      </a:r>
                      <a:endParaRPr b="1" sz="1550"/>
                    </a:p>
                  </a:txBody>
                  <a:tcPr marT="91425" marB="91425" marR="91425" marL="91425" anchor="ctr">
                    <a:solidFill>
                      <a:srgbClr val="9FC5E8"/>
                    </a:solidFill>
                  </a:tcPr>
                </a:tc>
              </a:tr>
              <a:tr h="3365250">
                <a:tc>
                  <a:txBody>
                    <a:bodyPr/>
                    <a:lstStyle/>
                    <a:p>
                      <a:pPr indent="0" lvl="0" marL="0" rtl="0" algn="l">
                        <a:spcBef>
                          <a:spcPts val="0"/>
                        </a:spcBef>
                        <a:spcAft>
                          <a:spcPts val="0"/>
                        </a:spcAft>
                        <a:buNone/>
                      </a:pPr>
                      <a:r>
                        <a:rPr lang="en-GB" sz="1350"/>
                        <a:t>-Name: Huddle-up</a:t>
                      </a:r>
                      <a:endParaRPr sz="1350"/>
                    </a:p>
                    <a:p>
                      <a:pPr indent="0" lvl="0" marL="0" rtl="0" algn="l">
                        <a:spcBef>
                          <a:spcPts val="0"/>
                        </a:spcBef>
                        <a:spcAft>
                          <a:spcPts val="0"/>
                        </a:spcAft>
                        <a:buNone/>
                      </a:pPr>
                      <a:r>
                        <a:rPr lang="en-GB" sz="1350"/>
                        <a:t>-Slogan: “Small circles, big connections.”</a:t>
                      </a:r>
                      <a:endParaRPr sz="1350"/>
                    </a:p>
                    <a:p>
                      <a:pPr indent="0" lvl="0" marL="0" rtl="0" algn="l">
                        <a:spcBef>
                          <a:spcPts val="0"/>
                        </a:spcBef>
                        <a:spcAft>
                          <a:spcPts val="0"/>
                        </a:spcAft>
                        <a:buNone/>
                      </a:pPr>
                      <a:r>
                        <a:rPr lang="en-GB" sz="1350"/>
                        <a:t>-</a:t>
                      </a:r>
                      <a:r>
                        <a:rPr lang="en-GB" sz="1350"/>
                        <a:t>Design: Soft, welcoming colors representing trust and energy. Purple/Green/Orange</a:t>
                      </a:r>
                      <a:endParaRPr sz="1350"/>
                    </a:p>
                    <a:p>
                      <a:pPr indent="0" lvl="0" marL="0" rtl="0" algn="l">
                        <a:spcBef>
                          <a:spcPts val="0"/>
                        </a:spcBef>
                        <a:spcAft>
                          <a:spcPts val="0"/>
                        </a:spcAft>
                        <a:buNone/>
                      </a:pPr>
                      <a:r>
                        <a:t/>
                      </a:r>
                      <a:endParaRPr sz="1350"/>
                    </a:p>
                    <a:p>
                      <a:pPr indent="0" lvl="0" marL="0" rtl="0" algn="l">
                        <a:spcBef>
                          <a:spcPts val="0"/>
                        </a:spcBef>
                        <a:spcAft>
                          <a:spcPts val="0"/>
                        </a:spcAft>
                        <a:buNone/>
                      </a:pPr>
                      <a:r>
                        <a:rPr b="1" lang="en-GB" sz="1350" u="sng"/>
                        <a:t>Target audience</a:t>
                      </a:r>
                      <a:endParaRPr b="1" sz="1350" u="sng"/>
                    </a:p>
                    <a:p>
                      <a:pPr indent="0" lvl="0" marL="0" rtl="0" algn="l">
                        <a:spcBef>
                          <a:spcPts val="0"/>
                        </a:spcBef>
                        <a:spcAft>
                          <a:spcPts val="0"/>
                        </a:spcAft>
                        <a:buNone/>
                      </a:pPr>
                      <a:r>
                        <a:rPr lang="en-GB" sz="1350"/>
                        <a:t>-Aged 18-35</a:t>
                      </a:r>
                      <a:endParaRPr sz="1350"/>
                    </a:p>
                    <a:p>
                      <a:pPr indent="0" lvl="0" marL="0" rtl="0" algn="l">
                        <a:spcBef>
                          <a:spcPts val="0"/>
                        </a:spcBef>
                        <a:spcAft>
                          <a:spcPts val="0"/>
                        </a:spcAft>
                        <a:buNone/>
                      </a:pPr>
                      <a:r>
                        <a:rPr lang="en-GB" sz="1350"/>
                        <a:t>Demographic: </a:t>
                      </a:r>
                      <a:r>
                        <a:rPr lang="en-GB" sz="1350"/>
                        <a:t>Students, remote workers, hobbyists, and people seeking real online community experiences.</a:t>
                      </a:r>
                      <a:endParaRPr sz="1350"/>
                    </a:p>
                  </a:txBody>
                  <a:tcPr marT="91425" marB="91425" marR="91425" marL="91425">
                    <a:solidFill>
                      <a:srgbClr val="E6B8AF"/>
                    </a:solidFill>
                  </a:tcPr>
                </a:tc>
                <a:tc>
                  <a:txBody>
                    <a:bodyPr/>
                    <a:lstStyle/>
                    <a:p>
                      <a:pPr indent="0" lvl="0" marL="0" rtl="0" algn="l">
                        <a:spcBef>
                          <a:spcPts val="0"/>
                        </a:spcBef>
                        <a:spcAft>
                          <a:spcPts val="0"/>
                        </a:spcAft>
                        <a:buNone/>
                      </a:pPr>
                      <a:r>
                        <a:rPr lang="en-GB" sz="1350"/>
                        <a:t>-</a:t>
                      </a:r>
                      <a:r>
                        <a:rPr lang="en-GB" sz="1350"/>
                        <a:t>Launch through schools, university clubs, co-working spaces, and hobby communities.</a:t>
                      </a:r>
                      <a:endParaRPr sz="1350"/>
                    </a:p>
                    <a:p>
                      <a:pPr indent="0" lvl="0" marL="0" rtl="0" algn="l">
                        <a:spcBef>
                          <a:spcPts val="0"/>
                        </a:spcBef>
                        <a:spcAft>
                          <a:spcPts val="0"/>
                        </a:spcAft>
                        <a:buNone/>
                      </a:pPr>
                      <a:r>
                        <a:rPr lang="en-GB" sz="1350"/>
                        <a:t>-Social advertisements. Our slogan: “find your people, not your followers.” </a:t>
                      </a:r>
                      <a:endParaRPr sz="1350"/>
                    </a:p>
                    <a:p>
                      <a:pPr indent="0" lvl="0" marL="0" rtl="0" algn="l">
                        <a:spcBef>
                          <a:spcPts val="0"/>
                        </a:spcBef>
                        <a:spcAft>
                          <a:spcPts val="0"/>
                        </a:spcAft>
                        <a:buNone/>
                      </a:pPr>
                      <a:r>
                        <a:rPr lang="en-GB" sz="1350"/>
                        <a:t>-Having influencers or users sharing how </a:t>
                      </a:r>
                      <a:r>
                        <a:rPr lang="en-GB" sz="1350"/>
                        <a:t>Huddle Up app</a:t>
                      </a:r>
                      <a:r>
                        <a:rPr lang="en-GB" sz="1350"/>
                        <a:t> fosters “real conversation.”</a:t>
                      </a:r>
                      <a:endParaRPr sz="1350"/>
                    </a:p>
                    <a:p>
                      <a:pPr indent="0" lvl="0" marL="0" rtl="0" algn="l">
                        <a:spcBef>
                          <a:spcPts val="0"/>
                        </a:spcBef>
                        <a:spcAft>
                          <a:spcPts val="0"/>
                        </a:spcAft>
                        <a:buNone/>
                      </a:pPr>
                      <a:r>
                        <a:rPr lang="en-GB" sz="1350"/>
                        <a:t>-Partnerships with online learning platforms — every course can have a Huddle for discussion</a:t>
                      </a:r>
                      <a:endParaRPr sz="1350"/>
                    </a:p>
                    <a:p>
                      <a:pPr indent="0" lvl="0" marL="0" rtl="0" algn="l">
                        <a:spcBef>
                          <a:spcPts val="0"/>
                        </a:spcBef>
                        <a:spcAft>
                          <a:spcPts val="0"/>
                        </a:spcAft>
                        <a:buNone/>
                      </a:pPr>
                      <a:r>
                        <a:t/>
                      </a:r>
                      <a:endParaRPr sz="1350"/>
                    </a:p>
                  </a:txBody>
                  <a:tcPr marT="91425" marB="91425" marR="91425" marL="91425">
                    <a:solidFill>
                      <a:srgbClr val="D9EAD3"/>
                    </a:solidFill>
                  </a:tcPr>
                </a:tc>
                <a:tc>
                  <a:txBody>
                    <a:bodyPr/>
                    <a:lstStyle/>
                    <a:p>
                      <a:pPr indent="0" lvl="0" marL="0" rtl="0" algn="l">
                        <a:spcBef>
                          <a:spcPts val="0"/>
                        </a:spcBef>
                        <a:spcAft>
                          <a:spcPts val="0"/>
                        </a:spcAft>
                        <a:buNone/>
                      </a:pPr>
                      <a:r>
                        <a:rPr lang="en-GB" sz="1350"/>
                        <a:t>- </a:t>
                      </a:r>
                      <a:r>
                        <a:rPr lang="en-GB" sz="1350"/>
                        <a:t>Having </a:t>
                      </a:r>
                      <a:r>
                        <a:rPr lang="en-GB" sz="1350"/>
                        <a:t>B2B partnerships with online learning platforms (education, wellness brands)</a:t>
                      </a:r>
                      <a:endParaRPr sz="1350"/>
                    </a:p>
                    <a:p>
                      <a:pPr indent="0" lvl="0" marL="0" rtl="0" algn="l">
                        <a:spcBef>
                          <a:spcPts val="0"/>
                        </a:spcBef>
                        <a:spcAft>
                          <a:spcPts val="0"/>
                        </a:spcAft>
                        <a:buNone/>
                      </a:pPr>
                      <a:r>
                        <a:rPr lang="en-GB" sz="1350"/>
                        <a:t>-AI-powered group matching: Suggest new huddles based on participation style and interests.</a:t>
                      </a:r>
                      <a:endParaRPr sz="1350"/>
                    </a:p>
                    <a:p>
                      <a:pPr indent="0" lvl="0" marL="0" rtl="0" algn="l">
                        <a:spcBef>
                          <a:spcPts val="0"/>
                        </a:spcBef>
                        <a:spcAft>
                          <a:spcPts val="0"/>
                        </a:spcAft>
                        <a:buNone/>
                      </a:pPr>
                      <a:r>
                        <a:rPr lang="en-GB" sz="1350"/>
                        <a:t>-Event integration: Turn online huddles into real-life meetups through built-in event planning.</a:t>
                      </a:r>
                      <a:endParaRPr sz="1350"/>
                    </a:p>
                    <a:p>
                      <a:pPr indent="0" lvl="0" marL="0" rtl="0" algn="l">
                        <a:spcBef>
                          <a:spcPts val="0"/>
                        </a:spcBef>
                        <a:spcAft>
                          <a:spcPts val="0"/>
                        </a:spcAft>
                        <a:buNone/>
                      </a:pPr>
                      <a:r>
                        <a:rPr lang="en-GB" sz="1350"/>
                        <a:t>-Cross-platform growth: Expanding tools to schools, therapy groups, and creative collaborations.</a:t>
                      </a:r>
                      <a:endParaRPr sz="1350"/>
                    </a:p>
                    <a:p>
                      <a:pPr indent="0" lvl="0" marL="0" rtl="0" algn="l">
                        <a:spcBef>
                          <a:spcPts val="0"/>
                        </a:spcBef>
                        <a:spcAft>
                          <a:spcPts val="0"/>
                        </a:spcAft>
                        <a:buNone/>
                      </a:pPr>
                      <a:r>
                        <a:rPr lang="en-GB" sz="1350"/>
                        <a:t>-To be expanded for application use</a:t>
                      </a:r>
                      <a:endParaRPr sz="1350"/>
                    </a:p>
                    <a:p>
                      <a:pPr indent="0" lvl="0" marL="0" rtl="0" algn="l">
                        <a:spcBef>
                          <a:spcPts val="0"/>
                        </a:spcBef>
                        <a:spcAft>
                          <a:spcPts val="0"/>
                        </a:spcAft>
                        <a:buNone/>
                      </a:pPr>
                      <a:r>
                        <a:t/>
                      </a:r>
                      <a:endParaRPr sz="1350"/>
                    </a:p>
                  </a:txBody>
                  <a:tcPr marT="91425" marB="91425" marR="91425" marL="91425">
                    <a:solidFill>
                      <a:srgbClr val="CFE2F3"/>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727650" y="8179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Social media channels/platforms </a:t>
            </a:r>
            <a:endParaRPr/>
          </a:p>
          <a:p>
            <a:pPr indent="0" lvl="0" marL="0" rtl="0" algn="ctr">
              <a:spcBef>
                <a:spcPts val="0"/>
              </a:spcBef>
              <a:spcAft>
                <a:spcPts val="0"/>
              </a:spcAft>
              <a:buNone/>
            </a:pPr>
            <a:r>
              <a:t/>
            </a:r>
            <a:endParaRPr/>
          </a:p>
        </p:txBody>
      </p:sp>
      <p:pic>
        <p:nvPicPr>
          <p:cNvPr id="119" name="Google Shape;119;p17"/>
          <p:cNvPicPr preferRelativeResize="0"/>
          <p:nvPr/>
        </p:nvPicPr>
        <p:blipFill>
          <a:blip r:embed="rId3">
            <a:alphaModFix/>
          </a:blip>
          <a:stretch>
            <a:fillRect/>
          </a:stretch>
        </p:blipFill>
        <p:spPr>
          <a:xfrm>
            <a:off x="6530125" y="2571738"/>
            <a:ext cx="1269075" cy="1269075"/>
          </a:xfrm>
          <a:prstGeom prst="rect">
            <a:avLst/>
          </a:prstGeom>
          <a:noFill/>
          <a:ln>
            <a:noFill/>
          </a:ln>
        </p:spPr>
      </p:pic>
      <p:sp>
        <p:nvSpPr>
          <p:cNvPr id="120" name="Google Shape;120;p17"/>
          <p:cNvSpPr txBox="1"/>
          <p:nvPr/>
        </p:nvSpPr>
        <p:spPr>
          <a:xfrm>
            <a:off x="1119525" y="1541050"/>
            <a:ext cx="5188800" cy="34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Platforms: </a:t>
            </a:r>
            <a:r>
              <a:rPr lang="en-GB" sz="1300">
                <a:solidFill>
                  <a:schemeClr val="accent1"/>
                </a:solidFill>
                <a:latin typeface="Lato"/>
                <a:ea typeface="Lato"/>
                <a:cs typeface="Lato"/>
                <a:sym typeface="Lato"/>
              </a:rPr>
              <a:t>Youtube, Instagram specifically Threads, Whatsapp</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Email marketing: Users can sign up through advertising links delivered through instagram. </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Segmentation: users when signed up </a:t>
            </a:r>
            <a:r>
              <a:rPr lang="en-GB" sz="1300">
                <a:solidFill>
                  <a:schemeClr val="accent1"/>
                </a:solidFill>
                <a:latin typeface="Lato"/>
                <a:ea typeface="Lato"/>
                <a:cs typeface="Lato"/>
                <a:sym typeface="Lato"/>
              </a:rPr>
              <a:t>with the website </a:t>
            </a:r>
            <a:r>
              <a:rPr lang="en-GB" sz="1300">
                <a:solidFill>
                  <a:schemeClr val="accent1"/>
                </a:solidFill>
                <a:latin typeface="Lato"/>
                <a:ea typeface="Lato"/>
                <a:cs typeface="Lato"/>
                <a:sym typeface="Lato"/>
              </a:rPr>
              <a:t>are divided into’ mini </a:t>
            </a:r>
            <a:r>
              <a:rPr lang="en-GB" sz="1300">
                <a:solidFill>
                  <a:schemeClr val="accent1"/>
                </a:solidFill>
                <a:latin typeface="Lato"/>
                <a:ea typeface="Lato"/>
                <a:cs typeface="Lato"/>
                <a:sym typeface="Lato"/>
              </a:rPr>
              <a:t>huddles’ based on their interests. </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Promotion: run adverts, word of mouth, through schools/ university, therapy groups, Billboards at high footfall areas near libraries.</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Experiential marketing: Videos of pop ups of our brand interacting with members of the public in order to boost awareness: Hosting small groups with a photobooth and HuddleUp memorabilia</a:t>
            </a:r>
            <a:endParaRPr sz="13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type="title"/>
          </p:nvPr>
        </p:nvSpPr>
        <p:spPr>
          <a:xfrm>
            <a:off x="330200" y="59057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A</a:t>
            </a:r>
            <a:r>
              <a:rPr lang="en-GB"/>
              <a:t>pp Prototype Design</a:t>
            </a:r>
            <a:endParaRPr/>
          </a:p>
        </p:txBody>
      </p:sp>
      <p:pic>
        <p:nvPicPr>
          <p:cNvPr id="126" name="Google Shape;126;p18"/>
          <p:cNvPicPr preferRelativeResize="0"/>
          <p:nvPr/>
        </p:nvPicPr>
        <p:blipFill>
          <a:blip r:embed="rId3">
            <a:alphaModFix/>
          </a:blip>
          <a:stretch>
            <a:fillRect/>
          </a:stretch>
        </p:blipFill>
        <p:spPr>
          <a:xfrm>
            <a:off x="1921438" y="1269425"/>
            <a:ext cx="5301124" cy="3534075"/>
          </a:xfrm>
          <a:prstGeom prst="rect">
            <a:avLst/>
          </a:prstGeom>
          <a:noFill/>
          <a:ln>
            <a:noFill/>
          </a:ln>
        </p:spPr>
      </p:pic>
      <p:sp>
        <p:nvSpPr>
          <p:cNvPr id="127" name="Google Shape;127;p18"/>
          <p:cNvSpPr txBox="1"/>
          <p:nvPr/>
        </p:nvSpPr>
        <p:spPr>
          <a:xfrm>
            <a:off x="0" y="1903300"/>
            <a:ext cx="16464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t>Created prototype logo by</a:t>
            </a:r>
            <a:r>
              <a:rPr lang="en-GB" sz="1200"/>
              <a:t> M</a:t>
            </a:r>
            <a:r>
              <a:rPr lang="en-GB" sz="1200"/>
              <a:t>icrosoft Copilot</a:t>
            </a:r>
            <a:endParaRPr sz="1200"/>
          </a:p>
        </p:txBody>
      </p:sp>
      <p:pic>
        <p:nvPicPr>
          <p:cNvPr id="128" name="Google Shape;128;p18"/>
          <p:cNvPicPr preferRelativeResize="0"/>
          <p:nvPr/>
        </p:nvPicPr>
        <p:blipFill>
          <a:blip r:embed="rId4">
            <a:alphaModFix/>
          </a:blip>
          <a:stretch>
            <a:fillRect/>
          </a:stretch>
        </p:blipFill>
        <p:spPr>
          <a:xfrm>
            <a:off x="0" y="496625"/>
            <a:ext cx="1781027" cy="1187351"/>
          </a:xfrm>
          <a:prstGeom prst="rect">
            <a:avLst/>
          </a:prstGeom>
          <a:noFill/>
          <a:ln>
            <a:noFill/>
          </a:ln>
        </p:spPr>
      </p:pic>
      <p:sp>
        <p:nvSpPr>
          <p:cNvPr id="129" name="Google Shape;129;p18"/>
          <p:cNvSpPr txBox="1"/>
          <p:nvPr/>
        </p:nvSpPr>
        <p:spPr>
          <a:xfrm>
            <a:off x="7520950" y="4134250"/>
            <a:ext cx="14349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t>Created prototype image by Microsoft Copilot</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Competitors and Alternatives</a:t>
            </a:r>
            <a:endParaRPr/>
          </a:p>
        </p:txBody>
      </p:sp>
      <p:sp>
        <p:nvSpPr>
          <p:cNvPr id="135" name="Google Shape;135;p19"/>
          <p:cNvSpPr txBox="1"/>
          <p:nvPr>
            <p:ph idx="1" type="body"/>
          </p:nvPr>
        </p:nvSpPr>
        <p:spPr>
          <a:xfrm>
            <a:off x="729450" y="2078875"/>
            <a:ext cx="7688700" cy="15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a:t>
            </a:r>
            <a:r>
              <a:rPr b="1" i="1" lang="en-GB"/>
              <a:t>Facebook Groups:</a:t>
            </a:r>
            <a:r>
              <a:rPr lang="en-GB"/>
              <a:t> Large and messy; low engagement between members.</a:t>
            </a:r>
            <a:endParaRPr/>
          </a:p>
          <a:p>
            <a:pPr indent="0" lvl="0" marL="0" rtl="0" algn="l">
              <a:spcBef>
                <a:spcPts val="1200"/>
              </a:spcBef>
              <a:spcAft>
                <a:spcPts val="0"/>
              </a:spcAft>
              <a:buNone/>
            </a:pPr>
            <a:r>
              <a:rPr lang="en-GB"/>
              <a:t>•	</a:t>
            </a:r>
            <a:r>
              <a:rPr b="1" i="1" lang="en-GB"/>
              <a:t>Reddit:</a:t>
            </a:r>
            <a:r>
              <a:rPr lang="en-GB"/>
              <a:t> Top-based community platform but it’s anonymous, often toxic, not intimacy-driven.</a:t>
            </a:r>
            <a:endParaRPr/>
          </a:p>
          <a:p>
            <a:pPr indent="0" lvl="0" marL="0" rtl="0" algn="l">
              <a:spcBef>
                <a:spcPts val="1200"/>
              </a:spcBef>
              <a:spcAft>
                <a:spcPts val="0"/>
              </a:spcAft>
              <a:buNone/>
            </a:pPr>
            <a:r>
              <a:rPr lang="en-GB"/>
              <a:t>•	</a:t>
            </a:r>
            <a:r>
              <a:rPr b="1" i="1" lang="en-GB"/>
              <a:t>Discord:</a:t>
            </a:r>
            <a:r>
              <a:rPr lang="en-GB"/>
              <a:t> Great for chat and gaming communities, but unstructured and mostly gaming-oriented.</a:t>
            </a:r>
            <a:endParaRPr/>
          </a:p>
          <a:p>
            <a:pPr indent="0" lvl="0" marL="0" rtl="0" algn="l">
              <a:spcBef>
                <a:spcPts val="1200"/>
              </a:spcBef>
              <a:spcAft>
                <a:spcPts val="1200"/>
              </a:spcAft>
              <a:buNone/>
            </a:pPr>
            <a:r>
              <a:rPr lang="en-GB"/>
              <a:t>•	</a:t>
            </a:r>
            <a:r>
              <a:rPr b="1" i="1" lang="en-GB"/>
              <a:t>Geneva / Circles / Slack: </a:t>
            </a:r>
            <a:r>
              <a:rPr lang="en-GB"/>
              <a:t>Great communication tools, but lack gamification and small-group focus.</a:t>
            </a:r>
            <a:endParaRPr/>
          </a:p>
        </p:txBody>
      </p:sp>
      <p:pic>
        <p:nvPicPr>
          <p:cNvPr id="136" name="Google Shape;136;p19"/>
          <p:cNvPicPr preferRelativeResize="0"/>
          <p:nvPr/>
        </p:nvPicPr>
        <p:blipFill>
          <a:blip r:embed="rId3">
            <a:alphaModFix/>
          </a:blip>
          <a:stretch>
            <a:fillRect/>
          </a:stretch>
        </p:blipFill>
        <p:spPr>
          <a:xfrm>
            <a:off x="6926800" y="511050"/>
            <a:ext cx="1045450" cy="1045450"/>
          </a:xfrm>
          <a:prstGeom prst="rect">
            <a:avLst/>
          </a:prstGeom>
          <a:noFill/>
          <a:ln>
            <a:noFill/>
          </a:ln>
        </p:spPr>
      </p:pic>
      <p:pic>
        <p:nvPicPr>
          <p:cNvPr id="137" name="Google Shape;137;p19"/>
          <p:cNvPicPr preferRelativeResize="0"/>
          <p:nvPr/>
        </p:nvPicPr>
        <p:blipFill>
          <a:blip r:embed="rId4">
            <a:alphaModFix/>
          </a:blip>
          <a:stretch>
            <a:fillRect/>
          </a:stretch>
        </p:blipFill>
        <p:spPr>
          <a:xfrm>
            <a:off x="7972250" y="1318650"/>
            <a:ext cx="1045450" cy="1045450"/>
          </a:xfrm>
          <a:prstGeom prst="rect">
            <a:avLst/>
          </a:prstGeom>
          <a:noFill/>
          <a:ln>
            <a:noFill/>
          </a:ln>
        </p:spPr>
      </p:pic>
      <p:pic>
        <p:nvPicPr>
          <p:cNvPr id="138" name="Google Shape;138;p19"/>
          <p:cNvPicPr preferRelativeResize="0"/>
          <p:nvPr/>
        </p:nvPicPr>
        <p:blipFill>
          <a:blip r:embed="rId5">
            <a:alphaModFix/>
          </a:blip>
          <a:stretch>
            <a:fillRect/>
          </a:stretch>
        </p:blipFill>
        <p:spPr>
          <a:xfrm>
            <a:off x="74075" y="3633475"/>
            <a:ext cx="1045450" cy="1045450"/>
          </a:xfrm>
          <a:prstGeom prst="rect">
            <a:avLst/>
          </a:prstGeom>
          <a:noFill/>
          <a:ln>
            <a:noFill/>
          </a:ln>
        </p:spPr>
      </p:pic>
      <p:pic>
        <p:nvPicPr>
          <p:cNvPr id="139" name="Google Shape;139;p19"/>
          <p:cNvPicPr preferRelativeResize="0"/>
          <p:nvPr/>
        </p:nvPicPr>
        <p:blipFill>
          <a:blip r:embed="rId6">
            <a:alphaModFix/>
          </a:blip>
          <a:stretch>
            <a:fillRect/>
          </a:stretch>
        </p:blipFill>
        <p:spPr>
          <a:xfrm>
            <a:off x="1196650" y="4020525"/>
            <a:ext cx="1045450" cy="1045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ph type="title"/>
          </p:nvPr>
        </p:nvSpPr>
        <p:spPr>
          <a:xfrm>
            <a:off x="1499750" y="907825"/>
            <a:ext cx="4766400" cy="535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GB" sz="2140"/>
              <a:t>Financial/Commercial viability</a:t>
            </a:r>
            <a:endParaRPr sz="2140"/>
          </a:p>
        </p:txBody>
      </p:sp>
      <p:sp>
        <p:nvSpPr>
          <p:cNvPr id="145" name="Google Shape;145;p20"/>
          <p:cNvSpPr txBox="1"/>
          <p:nvPr>
            <p:ph idx="1" type="body"/>
          </p:nvPr>
        </p:nvSpPr>
        <p:spPr>
          <a:xfrm>
            <a:off x="541550" y="1513300"/>
            <a:ext cx="7688700" cy="3341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GB" sz="5350" u="sng"/>
              <a:t>Commercial viability</a:t>
            </a:r>
            <a:endParaRPr sz="5350" u="sng"/>
          </a:p>
          <a:p>
            <a:pPr indent="0" lvl="0" marL="0" rtl="0" algn="l">
              <a:spcBef>
                <a:spcPts val="1200"/>
              </a:spcBef>
              <a:spcAft>
                <a:spcPts val="0"/>
              </a:spcAft>
              <a:buNone/>
            </a:pPr>
            <a:r>
              <a:rPr lang="en-GB" sz="5350"/>
              <a:t>Revenue streams:</a:t>
            </a:r>
            <a:endParaRPr sz="5350"/>
          </a:p>
          <a:p>
            <a:pPr indent="0" lvl="0" marL="0" rtl="0" algn="l">
              <a:spcBef>
                <a:spcPts val="1200"/>
              </a:spcBef>
              <a:spcAft>
                <a:spcPts val="0"/>
              </a:spcAft>
              <a:buNone/>
            </a:pPr>
            <a:r>
              <a:rPr lang="en-GB" sz="5350"/>
              <a:t>•	</a:t>
            </a:r>
            <a:r>
              <a:rPr b="1" i="1" lang="en-GB" sz="5350"/>
              <a:t>Freemium model: </a:t>
            </a:r>
            <a:r>
              <a:rPr lang="en-GB" sz="5350"/>
              <a:t>Free access to basic huddles; premium for unlimited or private huddles.</a:t>
            </a:r>
            <a:endParaRPr sz="5350"/>
          </a:p>
          <a:p>
            <a:pPr indent="0" lvl="0" marL="0" rtl="0" algn="l">
              <a:spcBef>
                <a:spcPts val="1200"/>
              </a:spcBef>
              <a:spcAft>
                <a:spcPts val="0"/>
              </a:spcAft>
              <a:buNone/>
            </a:pPr>
            <a:r>
              <a:rPr lang="en-GB" sz="5350"/>
              <a:t>•	</a:t>
            </a:r>
            <a:r>
              <a:rPr b="1" i="1" lang="en-GB" sz="5350"/>
              <a:t>Team/enterprise subscriptions:</a:t>
            </a:r>
            <a:r>
              <a:rPr lang="en-GB" sz="5350"/>
              <a:t> Companies/organisations pay monthly per team huddle.</a:t>
            </a:r>
            <a:endParaRPr sz="5350"/>
          </a:p>
          <a:p>
            <a:pPr indent="0" lvl="0" marL="0" rtl="0" algn="l">
              <a:spcBef>
                <a:spcPts val="1200"/>
              </a:spcBef>
              <a:spcAft>
                <a:spcPts val="0"/>
              </a:spcAft>
              <a:buNone/>
            </a:pPr>
            <a:r>
              <a:rPr lang="en-GB" sz="5350"/>
              <a:t>•	</a:t>
            </a:r>
            <a:r>
              <a:rPr b="1" i="1" lang="en-GB" sz="5350"/>
              <a:t>Brand-sponsored huddles:</a:t>
            </a:r>
            <a:r>
              <a:rPr lang="en-GB" sz="5350"/>
              <a:t> For communities around fitness, wellness, learning, etc.</a:t>
            </a:r>
            <a:endParaRPr sz="5350"/>
          </a:p>
          <a:p>
            <a:pPr indent="0" lvl="0" marL="0" rtl="0" algn="l">
              <a:spcBef>
                <a:spcPts val="1200"/>
              </a:spcBef>
              <a:spcAft>
                <a:spcPts val="0"/>
              </a:spcAft>
              <a:buNone/>
            </a:pPr>
            <a:r>
              <a:rPr lang="en-GB" sz="5350"/>
              <a:t>•	</a:t>
            </a:r>
            <a:r>
              <a:rPr b="1" i="1" lang="en-GB" sz="5350"/>
              <a:t>Merchandise and event tie-ins: </a:t>
            </a:r>
            <a:r>
              <a:rPr lang="en-GB" sz="5350"/>
              <a:t>Physical meetups, stationery stuff, e.g branded journals,                                                                  pens/</a:t>
            </a:r>
            <a:r>
              <a:rPr lang="en-GB" sz="5350"/>
              <a:t>water bottle</a:t>
            </a:r>
            <a:r>
              <a:rPr lang="en-GB" sz="5350"/>
              <a:t> with logo, digital passes.</a:t>
            </a:r>
            <a:endParaRPr sz="5350"/>
          </a:p>
          <a:p>
            <a:pPr indent="0" lvl="0" marL="0" rtl="0" algn="l">
              <a:spcBef>
                <a:spcPts val="1200"/>
              </a:spcBef>
              <a:spcAft>
                <a:spcPts val="0"/>
              </a:spcAft>
              <a:buNone/>
            </a:pPr>
            <a:r>
              <a:rPr lang="en-GB" sz="5350" u="sng"/>
              <a:t>Financial viability (Pricing of app subscriptions)</a:t>
            </a:r>
            <a:endParaRPr sz="5350" u="sng"/>
          </a:p>
          <a:p>
            <a:pPr indent="-313531" lvl="0" marL="457200" rtl="0" algn="l">
              <a:spcBef>
                <a:spcPts val="1200"/>
              </a:spcBef>
              <a:spcAft>
                <a:spcPts val="0"/>
              </a:spcAft>
              <a:buClr>
                <a:srgbClr val="000000"/>
              </a:buClr>
              <a:buSzPct val="100000"/>
              <a:buFont typeface="Arial"/>
              <a:buChar char="●"/>
            </a:pPr>
            <a:r>
              <a:rPr b="1" i="1" lang="en-GB" sz="5350"/>
              <a:t>Premium</a:t>
            </a:r>
            <a:r>
              <a:rPr lang="en-GB" sz="5350"/>
              <a:t>: £10/month per user, includes huddles being created</a:t>
            </a:r>
            <a:endParaRPr sz="5350"/>
          </a:p>
          <a:p>
            <a:pPr indent="-313531" lvl="0" marL="457200" rtl="0" algn="l">
              <a:spcBef>
                <a:spcPts val="0"/>
              </a:spcBef>
              <a:spcAft>
                <a:spcPts val="0"/>
              </a:spcAft>
              <a:buClr>
                <a:srgbClr val="000000"/>
              </a:buClr>
              <a:buSzPct val="100000"/>
              <a:buFont typeface="Arial"/>
              <a:buChar char="●"/>
            </a:pPr>
            <a:r>
              <a:rPr b="1" i="1" lang="en-GB" sz="5350"/>
              <a:t>Business plan: </a:t>
            </a:r>
            <a:r>
              <a:rPr lang="en-GB" sz="5350"/>
              <a:t>£5/month per user includes team huddles</a:t>
            </a:r>
            <a:endParaRPr sz="5350"/>
          </a:p>
          <a:p>
            <a:pPr indent="-313531" lvl="0" marL="457200" rtl="0" algn="l">
              <a:spcBef>
                <a:spcPts val="0"/>
              </a:spcBef>
              <a:spcAft>
                <a:spcPts val="0"/>
              </a:spcAft>
              <a:buClr>
                <a:srgbClr val="000000"/>
              </a:buClr>
              <a:buSzPct val="100000"/>
              <a:buFont typeface="Arial"/>
              <a:buChar char="●"/>
            </a:pPr>
            <a:r>
              <a:rPr b="1" i="1" lang="en-GB" sz="5350"/>
              <a:t>Free plan: </a:t>
            </a:r>
            <a:r>
              <a:rPr lang="en-GB" sz="5350"/>
              <a:t>£0, includes joining huddles and inviting others to join huddle </a:t>
            </a:r>
            <a:endParaRPr sz="5350"/>
          </a:p>
          <a:p>
            <a:pPr indent="0" lvl="0" marL="0" rtl="0" algn="l">
              <a:spcBef>
                <a:spcPts val="1200"/>
              </a:spcBef>
              <a:spcAft>
                <a:spcPts val="1200"/>
              </a:spcAft>
              <a:buNone/>
            </a:pPr>
            <a:r>
              <a:t/>
            </a:r>
            <a:endParaRPr/>
          </a:p>
        </p:txBody>
      </p:sp>
      <p:pic>
        <p:nvPicPr>
          <p:cNvPr id="146" name="Google Shape;146;p20"/>
          <p:cNvPicPr preferRelativeResize="0"/>
          <p:nvPr/>
        </p:nvPicPr>
        <p:blipFill rotWithShape="1">
          <a:blip r:embed="rId3">
            <a:alphaModFix/>
          </a:blip>
          <a:srcRect b="23775" l="0" r="23775" t="0"/>
          <a:stretch/>
        </p:blipFill>
        <p:spPr>
          <a:xfrm>
            <a:off x="6045525" y="560829"/>
            <a:ext cx="3016825" cy="153358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729450" y="1318650"/>
            <a:ext cx="8106900" cy="3505800"/>
          </a:xfrm>
          <a:prstGeom prst="rect">
            <a:avLst/>
          </a:prstGeom>
        </p:spPr>
        <p:txBody>
          <a:bodyPr anchorCtr="0" anchor="t" bIns="91425" lIns="91425" spcFirstLastPara="1" rIns="91425" wrap="square" tIns="91425">
            <a:normAutofit/>
          </a:bodyPr>
          <a:lstStyle/>
          <a:p>
            <a:pPr indent="457200" lvl="0" marL="457200" rtl="0" algn="l">
              <a:spcBef>
                <a:spcPts val="0"/>
              </a:spcBef>
              <a:spcAft>
                <a:spcPts val="0"/>
              </a:spcAft>
              <a:buNone/>
            </a:pPr>
            <a:r>
              <a:rPr lang="en-GB" sz="6000"/>
              <a:t>Any questions?</a:t>
            </a:r>
            <a:endParaRPr sz="6000"/>
          </a:p>
          <a:p>
            <a:pPr indent="457200" lvl="0" marL="457200" rtl="0" algn="l">
              <a:spcBef>
                <a:spcPts val="0"/>
              </a:spcBef>
              <a:spcAft>
                <a:spcPts val="0"/>
              </a:spcAft>
              <a:buNone/>
            </a:pPr>
            <a:r>
              <a:rPr lang="en-GB" sz="3600"/>
              <a:t>				</a:t>
            </a:r>
            <a:endParaRPr sz="3600"/>
          </a:p>
          <a:p>
            <a:pPr indent="0" lvl="0" marL="1828800" rtl="0" algn="l">
              <a:spcBef>
                <a:spcPts val="0"/>
              </a:spcBef>
              <a:spcAft>
                <a:spcPts val="0"/>
              </a:spcAft>
              <a:buNone/>
            </a:pPr>
            <a:r>
              <a:rPr b="0" lang="en-GB" sz="3600"/>
              <a:t>Feel free to ask</a:t>
            </a:r>
            <a:endParaRPr b="0" sz="3600"/>
          </a:p>
        </p:txBody>
      </p:sp>
      <p:pic>
        <p:nvPicPr>
          <p:cNvPr id="152" name="Google Shape;152;p21"/>
          <p:cNvPicPr preferRelativeResize="0"/>
          <p:nvPr/>
        </p:nvPicPr>
        <p:blipFill>
          <a:blip r:embed="rId3">
            <a:alphaModFix/>
          </a:blip>
          <a:stretch>
            <a:fillRect/>
          </a:stretch>
        </p:blipFill>
        <p:spPr>
          <a:xfrm>
            <a:off x="6120300" y="2705075"/>
            <a:ext cx="1989074" cy="19890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2"/>
          <p:cNvPicPr preferRelativeResize="0"/>
          <p:nvPr/>
        </p:nvPicPr>
        <p:blipFill>
          <a:blip r:embed="rId3">
            <a:alphaModFix/>
          </a:blip>
          <a:stretch>
            <a:fillRect/>
          </a:stretch>
        </p:blipFill>
        <p:spPr>
          <a:xfrm>
            <a:off x="0" y="12"/>
            <a:ext cx="9144000" cy="5138928"/>
          </a:xfrm>
          <a:prstGeom prst="rect">
            <a:avLst/>
          </a:prstGeom>
          <a:noFill/>
          <a:ln>
            <a:noFill/>
          </a:ln>
        </p:spPr>
      </p:pic>
      <p:sp>
        <p:nvSpPr>
          <p:cNvPr id="158" name="Google Shape;158;p22"/>
          <p:cNvSpPr txBox="1"/>
          <p:nvPr>
            <p:ph type="title"/>
          </p:nvPr>
        </p:nvSpPr>
        <p:spPr>
          <a:xfrm>
            <a:off x="1709700" y="3075750"/>
            <a:ext cx="5724600" cy="1753800"/>
          </a:xfrm>
          <a:prstGeom prst="rect">
            <a:avLst/>
          </a:prstGeom>
          <a:solidFill>
            <a:srgbClr val="FFFFFF">
              <a:alpha val="60000"/>
            </a:srgbClr>
          </a:solidFill>
        </p:spPr>
        <p:txBody>
          <a:bodyPr anchorCtr="0" anchor="ctr" bIns="91425" lIns="91425" spcFirstLastPara="1" rIns="91425" wrap="square" tIns="91425">
            <a:normAutofit/>
          </a:bodyPr>
          <a:lstStyle/>
          <a:p>
            <a:pPr indent="0" lvl="0" marL="0" rtl="0" algn="ctr">
              <a:spcBef>
                <a:spcPts val="0"/>
              </a:spcBef>
              <a:spcAft>
                <a:spcPts val="0"/>
              </a:spcAft>
              <a:buNone/>
            </a:pPr>
            <a:r>
              <a:rPr lang="en-GB" sz="6000"/>
              <a:t>The End</a:t>
            </a:r>
            <a:endParaRPr sz="6000"/>
          </a:p>
          <a:p>
            <a:pPr indent="0" lvl="0" marL="0" rtl="0" algn="ctr">
              <a:spcBef>
                <a:spcPts val="0"/>
              </a:spcBef>
              <a:spcAft>
                <a:spcPts val="0"/>
              </a:spcAft>
              <a:buNone/>
            </a:pPr>
            <a:r>
              <a:rPr b="0" lang="en-GB" sz="3600"/>
              <a:t>Thanks for watching</a:t>
            </a:r>
            <a:endParaRPr b="0" sz="36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